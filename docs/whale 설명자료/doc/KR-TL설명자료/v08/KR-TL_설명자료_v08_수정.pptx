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70" r:id="rId9"/>
    <p:sldId id="262" r:id="rId10"/>
    <p:sldId id="263" r:id="rId11"/>
    <p:sldId id="264" r:id="rId12"/>
    <p:sldId id="265" r:id="rId13"/>
    <p:sldId id="271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4FF"/>
    <a:srgbClr val="1A1A2E"/>
    <a:srgbClr val="FFFFFF"/>
    <a:srgbClr val="F6F8FC"/>
    <a:srgbClr val="6AA4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4" autoAdjust="0"/>
    <p:restoredTop sz="94660"/>
  </p:normalViewPr>
  <p:slideViewPr>
    <p:cSldViewPr snapToGrid="0" showGuides="1">
      <p:cViewPr>
        <p:scale>
          <a:sx n="95" d="100"/>
          <a:sy n="95" d="100"/>
        </p:scale>
        <p:origin x="108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F475C-18FE-428F-AC2E-04EB0B45E7A7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9E95F-4B68-460C-A0E3-2B53794C46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77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9E95F-4B68-460C-A0E3-2B53794C460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797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F1~F3</a:t>
            </a:r>
            <a:r>
              <a:rPr lang="ko-KR" altLang="en-US" dirty="0"/>
              <a:t>는 검증 과정에서 활용하고</a:t>
            </a:r>
            <a:r>
              <a:rPr lang="en-US" altLang="ko-KR" dirty="0"/>
              <a:t>, F4~F5</a:t>
            </a:r>
            <a:r>
              <a:rPr lang="ko-KR" altLang="en-US" dirty="0"/>
              <a:t>는 브라우저의 목록 관리 기능으로 구현한다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9E95F-4B68-460C-A0E3-2B53794C460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511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8AE68-BC40-D78F-0509-F7523EF8F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D5F078-A5DA-6B21-AECD-4864DED7D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93034-4610-5CC7-FC53-C9FF4382E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E458A-54C8-969E-D594-6B42ED5DC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582568-9EF3-0AE0-98BA-78D14AF5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87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A99CD-C0F7-191C-9958-57F25233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D4CDB0-9B69-170E-A3B9-C2B1373DD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AC3043-F04B-82B4-99B9-9F9808219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F6D0D4-B8F8-B528-4702-57D17B4D8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6646B9-9294-CC48-FFB4-5025254F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72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FFF73-6289-A6A0-4BB7-3D0B8E9C0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73AD80-CA26-06F8-910C-A086093FD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7777D2-3DEB-17D6-85FB-2B2503601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E932F8-5B4D-5587-F389-477C5165F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55270F-1C52-4F7B-02FA-B310D566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95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83C11-E588-6F18-293F-BC9D4098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5CC0B9-7634-74A0-48E7-323AC4FE8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B1E766-2D40-3D23-65D9-F9D282D0D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5C737E-57CA-AE60-DBE8-A3AB39F6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B1B928-B001-ACE4-8A41-74BDF6C8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227806-C02F-A740-E7CD-C288C1BE1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45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F67BA-8130-EA01-A94C-753D5C60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91DC03-9A17-ACED-4D8F-94BC85CD8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6FA609-1A26-2F8B-61DE-A200CAF5B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CE00D2-76E1-0DBD-F7AA-94C650DEE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2B83ED-A429-84C2-299D-F06E13045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8C6F73-D895-EDC8-A72D-A025E7FF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98D71D-EEB7-DD2C-C66D-BB63D9FD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A515C96-DA88-8E20-AD3A-FF27CAD5C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4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2668-52EF-2C54-6823-A1BEE9EC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A4347A-184B-4A3E-57E8-2BFADC1D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18716A-94AA-50EA-C67A-C6A8B50D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C0CE12-EE50-3C6E-55FA-244D19DD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48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3A2EA2-E738-5FCB-7133-5FDF78F00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5A38200-56EA-D6E9-99C1-C9A53850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2068F-026C-437D-60D7-BCC7BD20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531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E909F-B920-06BB-A803-000469BE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BFC517-2EC7-77A8-8C70-07838B776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8064C9-7EB7-6BAB-242E-4402916AF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04F9B4-5A03-B218-E2F2-AE33E67F2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F9BF6E-D5A1-A26F-9375-597BB6D2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A6C321-DF43-D538-C70B-0F284419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260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0065C-777F-96E1-7289-5D9DE3790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3D286F-80CC-58FD-517D-39761CA0B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42BFA1-FD87-99B4-5FEE-A9BCC0D06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C1E723-A78C-7A1E-BC90-68E02116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C53D90-2CE9-BB25-0B22-FB3619EA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45E577-BB1B-7B69-DFC1-0B55B4A5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2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F59CF-F90B-A2E0-9232-917C24C4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012A3B-BF70-1FE2-FB83-4F29B687A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B2881-87EB-BC79-3F91-8F69DBF0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F3691E-F529-5B09-1D4E-34FBB154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8F563-D701-E760-7264-7AF6B7DB2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819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C6CC0F-105F-1CF4-865E-751DF62D7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DE0DCF-839D-C49E-E0E4-0DFDBDBDB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82FB8-0CA3-5F7D-1C08-39804EA1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6A9D1-40C0-B254-9698-E008E584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915F5C-6BCC-57EE-2246-F055D05A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16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D649C7-0855-8DF9-99B1-5E217520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97CFE0-91FB-E962-F5CA-D9F210C31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329391-39D3-FF42-49DD-BA7989467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92694-18BF-4167-BC38-E41458C67B2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DFC148-0F08-EBC8-30E4-AC8E43D86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1C8C72-9913-F224-6E0F-C129A2D4E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3D331-38CB-4D5F-AA79-756EA9F37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29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12058650" y="0"/>
            <a:ext cx="133350" cy="685800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914400" y="2374106"/>
            <a:ext cx="533400" cy="38100"/>
          </a:xfrm>
          <a:prstGeom prst="rect">
            <a:avLst/>
          </a:prstGeom>
          <a:solidFill>
            <a:srgbClr val="5B9BD5">
              <a:alpha val="100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14400" y="2697956"/>
            <a:ext cx="1535013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4200" b="1" i="0" dirty="0">
                <a:solidFill>
                  <a:srgbClr val="1A1A2E"/>
                </a:solidFill>
                <a:latin typeface="Noto Sans KR"/>
                <a:ea typeface="Noto Sans KR"/>
              </a:rPr>
              <a:t>KR-TL</a:t>
            </a:r>
            <a:endParaRPr lang="ko-KR" sz="4200" dirty="0"/>
          </a:p>
        </p:txBody>
      </p:sp>
      <p:sp>
        <p:nvSpPr>
          <p:cNvPr id="5" name="Text 5"/>
          <p:cNvSpPr txBox="1"/>
          <p:nvPr/>
        </p:nvSpPr>
        <p:spPr>
          <a:xfrm>
            <a:off x="914400" y="3564731"/>
            <a:ext cx="2961233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950" b="0" i="0" dirty="0">
                <a:solidFill>
                  <a:srgbClr val="4A5568"/>
                </a:solidFill>
                <a:latin typeface="Noto Sans KR"/>
                <a:ea typeface="Noto Sans KR"/>
              </a:rPr>
              <a:t>국내 전자서명 신뢰목록 개요</a:t>
            </a:r>
            <a:endParaRPr lang="ko-KR" sz="1950" dirty="0"/>
          </a:p>
        </p:txBody>
      </p:sp>
      <p:sp>
        <p:nvSpPr>
          <p:cNvPr id="6" name="Text 6"/>
          <p:cNvSpPr txBox="1"/>
          <p:nvPr/>
        </p:nvSpPr>
        <p:spPr>
          <a:xfrm>
            <a:off x="914400" y="4260056"/>
            <a:ext cx="2932807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25" b="0" i="0">
                <a:solidFill>
                  <a:srgbClr val="718096"/>
                </a:solidFill>
                <a:latin typeface="Noto Sans KR"/>
                <a:ea typeface="Noto Sans KR"/>
              </a:rPr>
              <a:t>웨일 브라우저 PDF 전자서명 검증 실증 사전 공유</a:t>
            </a:r>
            <a:endParaRPr lang="ko-KR" sz="112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296EFF86-797B-914D-5EEF-32F613E4EC23}"/>
              </a:ext>
            </a:extLst>
          </p:cNvPr>
          <p:cNvSpPr txBox="1"/>
          <p:nvPr/>
        </p:nvSpPr>
        <p:spPr>
          <a:xfrm>
            <a:off x="914400" y="2697956"/>
            <a:ext cx="1535013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4200" b="1" i="0" dirty="0">
                <a:solidFill>
                  <a:srgbClr val="FFFFFF"/>
                </a:solidFill>
                <a:latin typeface="Noto Sans KR"/>
                <a:ea typeface="Noto Sans KR"/>
              </a:rPr>
              <a:t>1. </a:t>
            </a:r>
            <a:r>
              <a:rPr lang="ko-KR" altLang="en-US" sz="4200" b="1" i="0" dirty="0">
                <a:solidFill>
                  <a:srgbClr val="FFFFFF"/>
                </a:solidFill>
                <a:latin typeface="Noto Sans KR"/>
                <a:ea typeface="Noto Sans KR"/>
              </a:rPr>
              <a:t>개요</a:t>
            </a:r>
            <a:endParaRPr lang="ko-KR" sz="4200" dirty="0">
              <a:solidFill>
                <a:srgbClr val="FFFFFF"/>
              </a:solidFill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3A243A1C-8782-F8F5-94C2-AB18137AD2AA}"/>
              </a:ext>
            </a:extLst>
          </p:cNvPr>
          <p:cNvSpPr txBox="1"/>
          <p:nvPr/>
        </p:nvSpPr>
        <p:spPr>
          <a:xfrm>
            <a:off x="914400" y="3564731"/>
            <a:ext cx="6020790" cy="5678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950" b="0" i="0" dirty="0">
                <a:solidFill>
                  <a:srgbClr val="EBF4FF"/>
                </a:solidFill>
                <a:latin typeface="Noto Sans KR"/>
                <a:ea typeface="Noto Sans KR"/>
              </a:rPr>
              <a:t>전자서명 신뢰검증의 배경과 신뢰목록 개념</a:t>
            </a:r>
            <a:endParaRPr lang="ko-KR" sz="1950" dirty="0">
              <a:solidFill>
                <a:srgbClr val="EBF4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99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6306D5B8-279A-F95A-2D97-483C27E1E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310321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457200" y="1352550"/>
            <a:ext cx="5617666" cy="4521994"/>
          </a:xfrm>
          <a:prstGeom prst="rect">
            <a:avLst/>
          </a:prstGeom>
          <a:solidFill>
            <a:srgbClr val="FAFBFD">
              <a:alpha val="100000"/>
            </a:srgbClr>
          </a:solidFill>
          <a:ln w="9525">
            <a:solidFill>
              <a:srgbClr val="C3CFE0"/>
            </a:solidFill>
          </a:ln>
        </p:spPr>
      </p:sp>
      <p:sp>
        <p:nvSpPr>
          <p:cNvPr id="5" name="Box 5"/>
          <p:cNvSpPr/>
          <p:nvPr/>
        </p:nvSpPr>
        <p:spPr>
          <a:xfrm>
            <a:off x="6227266" y="1352550"/>
            <a:ext cx="5507534" cy="2218134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6" name="Box 6"/>
          <p:cNvSpPr/>
          <p:nvPr/>
        </p:nvSpPr>
        <p:spPr>
          <a:xfrm>
            <a:off x="6230528" y="1355725"/>
            <a:ext cx="5504272" cy="285750"/>
          </a:xfrm>
          <a:prstGeom prst="rect">
            <a:avLst/>
          </a:prstGeom>
          <a:solidFill>
            <a:srgbClr val="EDF2F7">
              <a:alpha val="100000"/>
            </a:srgbClr>
          </a:solidFill>
          <a:ln>
            <a:noFill/>
          </a:ln>
        </p:spPr>
      </p:sp>
      <p:sp>
        <p:nvSpPr>
          <p:cNvPr id="7" name="Box 7"/>
          <p:cNvSpPr/>
          <p:nvPr/>
        </p:nvSpPr>
        <p:spPr>
          <a:xfrm>
            <a:off x="6227266" y="3656409"/>
            <a:ext cx="5507534" cy="2218134"/>
          </a:xfrm>
          <a:prstGeom prst="rect">
            <a:avLst/>
          </a:prstGeom>
          <a:noFill/>
          <a:ln w="9525">
            <a:solidFill>
              <a:srgbClr val="5B9BD5"/>
            </a:solidFill>
          </a:ln>
        </p:spPr>
      </p:sp>
      <p:sp>
        <p:nvSpPr>
          <p:cNvPr id="8" name="Box 8"/>
          <p:cNvSpPr/>
          <p:nvPr/>
        </p:nvSpPr>
        <p:spPr>
          <a:xfrm>
            <a:off x="6230528" y="3665934"/>
            <a:ext cx="5508000" cy="285750"/>
          </a:xfrm>
          <a:prstGeom prst="rect">
            <a:avLst/>
          </a:prstGeom>
          <a:solidFill>
            <a:srgbClr val="5B9BD5">
              <a:alpha val="100000"/>
            </a:srgbClr>
          </a:solidFill>
          <a:ln>
            <a:noFill/>
          </a:ln>
        </p:spPr>
      </p:sp>
      <p:sp>
        <p:nvSpPr>
          <p:cNvPr id="9" name="Box 9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10" name="Box 10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sp>
        <p:nvSpPr>
          <p:cNvPr id="11" name="List 11"/>
          <p:cNvSpPr txBox="1"/>
          <p:nvPr/>
        </p:nvSpPr>
        <p:spPr>
          <a:xfrm>
            <a:off x="6370141" y="1762125"/>
            <a:ext cx="5221784" cy="298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171450" indent="-114300">
              <a:buClr>
                <a:srgbClr val="5B9BD5"/>
              </a:buClr>
              <a:buSzPct val="70000"/>
              <a:buChar char="▪"/>
            </a:pPr>
            <a:r>
              <a:rPr lang="ko-KR" altLang="en-US" sz="938" b="0" i="0" dirty="0">
                <a:solidFill>
                  <a:srgbClr val="718096"/>
                </a:solidFill>
                <a:latin typeface="Noto Sans KR"/>
                <a:ea typeface="Noto Sans KR"/>
              </a:rPr>
              <a:t>전자서명 된 문서</a:t>
            </a:r>
            <a:endParaRPr lang="ko-KR" sz="938" dirty="0"/>
          </a:p>
        </p:txBody>
      </p:sp>
      <p:sp>
        <p:nvSpPr>
          <p:cNvPr id="12" name="List 12"/>
          <p:cNvSpPr txBox="1"/>
          <p:nvPr/>
        </p:nvSpPr>
        <p:spPr>
          <a:xfrm>
            <a:off x="6370141" y="2060972"/>
            <a:ext cx="5221784" cy="298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171450" indent="-114300">
              <a:buClr>
                <a:srgbClr val="5B9BD5"/>
              </a:buClr>
              <a:buSzPct val="70000"/>
              <a:buChar char="▪"/>
            </a:pPr>
            <a:r>
              <a:rPr lang="ko-KR" altLang="en-US" sz="938" dirty="0"/>
              <a:t>전자서명에 문제가 있다는 것</a:t>
            </a:r>
            <a:endParaRPr lang="ko-KR" sz="938" dirty="0"/>
          </a:p>
        </p:txBody>
      </p:sp>
      <p:sp>
        <p:nvSpPr>
          <p:cNvPr id="14" name="List 14"/>
          <p:cNvSpPr txBox="1"/>
          <p:nvPr/>
        </p:nvSpPr>
        <p:spPr>
          <a:xfrm>
            <a:off x="6370141" y="4065984"/>
            <a:ext cx="5221784" cy="298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171450" indent="-114300">
              <a:buClr>
                <a:srgbClr val="5B9BD5"/>
              </a:buClr>
              <a:buSzPct val="70000"/>
              <a:buChar char="▪"/>
            </a:pPr>
            <a:r>
              <a:rPr lang="ko-KR" altLang="en-US" sz="938" b="0" i="0" dirty="0">
                <a:solidFill>
                  <a:srgbClr val="2D3748"/>
                </a:solidFill>
                <a:latin typeface="Noto Sans KR"/>
                <a:ea typeface="Noto Sans KR"/>
              </a:rPr>
              <a:t>전자문서를 </a:t>
            </a:r>
            <a:r>
              <a:rPr lang="ko-KR" altLang="en-US" sz="938" b="0" i="0" dirty="0" err="1">
                <a:solidFill>
                  <a:srgbClr val="2D3748"/>
                </a:solidFill>
                <a:latin typeface="Noto Sans KR"/>
                <a:ea typeface="Noto Sans KR"/>
              </a:rPr>
              <a:t>발급자</a:t>
            </a:r>
            <a:endParaRPr lang="ko-KR" sz="938" dirty="0"/>
          </a:p>
        </p:txBody>
      </p:sp>
      <p:sp>
        <p:nvSpPr>
          <p:cNvPr id="15" name="List 15"/>
          <p:cNvSpPr txBox="1"/>
          <p:nvPr/>
        </p:nvSpPr>
        <p:spPr>
          <a:xfrm>
            <a:off x="6370141" y="4364831"/>
            <a:ext cx="5221784" cy="298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171450" indent="-114300">
              <a:buClr>
                <a:srgbClr val="5B9BD5"/>
              </a:buClr>
              <a:buSzPct val="70000"/>
              <a:buChar char="▪"/>
            </a:pPr>
            <a:r>
              <a:rPr lang="ko-KR" altLang="en-US" sz="938" dirty="0">
                <a:solidFill>
                  <a:srgbClr val="2D3748"/>
                </a:solidFill>
                <a:latin typeface="Noto Sans KR"/>
                <a:ea typeface="Noto Sans KR"/>
              </a:rPr>
              <a:t>전자문서 발급 시점에서 발급자가 정상이 였는지</a:t>
            </a:r>
            <a:r>
              <a:rPr lang="en-US" altLang="ko-KR" sz="938" dirty="0">
                <a:solidFill>
                  <a:srgbClr val="2D3748"/>
                </a:solidFill>
                <a:latin typeface="Noto Sans KR"/>
                <a:ea typeface="Noto Sans KR"/>
              </a:rPr>
              <a:t>?</a:t>
            </a:r>
            <a:endParaRPr lang="ko-KR" sz="938" dirty="0"/>
          </a:p>
        </p:txBody>
      </p:sp>
      <p:sp>
        <p:nvSpPr>
          <p:cNvPr id="16" name="List 16"/>
          <p:cNvSpPr txBox="1"/>
          <p:nvPr/>
        </p:nvSpPr>
        <p:spPr>
          <a:xfrm>
            <a:off x="6370141" y="4663678"/>
            <a:ext cx="5221784" cy="298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171450" indent="-114300">
              <a:buClr>
                <a:srgbClr val="5B9BD5"/>
              </a:buClr>
              <a:buSzPct val="70000"/>
              <a:buChar char="▪"/>
            </a:pPr>
            <a:r>
              <a:rPr lang="ko-KR" altLang="en-US" sz="938" b="0" i="0" dirty="0">
                <a:solidFill>
                  <a:srgbClr val="2D3748"/>
                </a:solidFill>
                <a:latin typeface="Noto Sans KR"/>
                <a:ea typeface="Noto Sans KR"/>
              </a:rPr>
              <a:t>전자문서 서명에 어떠한 문제가 있다는 것</a:t>
            </a:r>
            <a:r>
              <a:rPr lang="en-US" altLang="ko-KR" sz="938" b="0" i="0" dirty="0">
                <a:solidFill>
                  <a:srgbClr val="2D3748"/>
                </a:solidFill>
                <a:latin typeface="Noto Sans KR"/>
                <a:ea typeface="Noto Sans KR"/>
              </a:rPr>
              <a:t>?</a:t>
            </a:r>
            <a:endParaRPr lang="ko-KR" sz="938" dirty="0"/>
          </a:p>
        </p:txBody>
      </p:sp>
      <p:sp>
        <p:nvSpPr>
          <p:cNvPr id="17" name="List 17"/>
          <p:cNvSpPr txBox="1"/>
          <p:nvPr/>
        </p:nvSpPr>
        <p:spPr>
          <a:xfrm>
            <a:off x="6370141" y="4962525"/>
            <a:ext cx="5221784" cy="298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171450" indent="-114300">
              <a:buClr>
                <a:srgbClr val="5B9BD5"/>
              </a:buClr>
              <a:buSzPct val="70000"/>
              <a:buChar char="▪"/>
            </a:pPr>
            <a:r>
              <a:rPr lang="ko-KR" altLang="en-US" sz="938" dirty="0">
                <a:solidFill>
                  <a:srgbClr val="2D3748"/>
                </a:solidFill>
                <a:latin typeface="Noto Sans KR"/>
                <a:ea typeface="Noto Sans KR"/>
              </a:rPr>
              <a:t>전자문서를 어느 정도로 신뢰해야 하는가</a:t>
            </a:r>
            <a:r>
              <a:rPr lang="en-US" altLang="ko-KR" sz="938" dirty="0">
                <a:solidFill>
                  <a:srgbClr val="2D3748"/>
                </a:solidFill>
                <a:latin typeface="Noto Sans KR"/>
                <a:ea typeface="Noto Sans KR"/>
              </a:rPr>
              <a:t>?</a:t>
            </a:r>
            <a:endParaRPr lang="ko-KR" sz="938" dirty="0"/>
          </a:p>
        </p:txBody>
      </p:sp>
      <p:sp>
        <p:nvSpPr>
          <p:cNvPr id="18" name="Text 18"/>
          <p:cNvSpPr txBox="1"/>
          <p:nvPr/>
        </p:nvSpPr>
        <p:spPr>
          <a:xfrm>
            <a:off x="457200" y="133350"/>
            <a:ext cx="18424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브라우저 </a:t>
            </a:r>
            <a:r>
              <a:rPr lang="en-US" alt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PDF 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전자서명 검증의 한계</a:t>
            </a:r>
            <a:endParaRPr lang="ko-KR" sz="1575" dirty="0"/>
          </a:p>
        </p:txBody>
      </p:sp>
      <p:sp>
        <p:nvSpPr>
          <p:cNvPr id="19" name="Text 19"/>
          <p:cNvSpPr txBox="1"/>
          <p:nvPr/>
        </p:nvSpPr>
        <p:spPr>
          <a:xfrm>
            <a:off x="457200" y="741758"/>
            <a:ext cx="5826026" cy="3612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 dirty="0">
                <a:solidFill>
                  <a:srgbClr val="1A1A2E"/>
                </a:solidFill>
                <a:latin typeface="Noto Sans KR"/>
                <a:ea typeface="Noto Sans KR"/>
              </a:rPr>
              <a:t>브라우저</a:t>
            </a:r>
            <a:r>
              <a:rPr lang="ko-KR" altLang="en-US" sz="1163" b="1" dirty="0">
                <a:solidFill>
                  <a:srgbClr val="1A1A2E"/>
                </a:solidFill>
                <a:latin typeface="Noto Sans KR"/>
                <a:ea typeface="Noto Sans KR"/>
              </a:rPr>
              <a:t>에서는 </a:t>
            </a:r>
            <a:r>
              <a:rPr lang="ko-KR" altLang="en-US" sz="1163" b="1" i="0" dirty="0">
                <a:solidFill>
                  <a:srgbClr val="1A1A2E"/>
                </a:solidFill>
                <a:latin typeface="Noto Sans KR"/>
                <a:ea typeface="Noto Sans KR"/>
              </a:rPr>
              <a:t>전자서명은 서명검증을 하지 않는다</a:t>
            </a:r>
            <a:r>
              <a:rPr lang="en-US" altLang="ko-KR" sz="1163" b="1" i="0" dirty="0">
                <a:solidFill>
                  <a:srgbClr val="1A1A2E"/>
                </a:solidFill>
                <a:latin typeface="Noto Sans KR"/>
                <a:ea typeface="Noto Sans KR"/>
              </a:rPr>
              <a:t>.</a:t>
            </a:r>
          </a:p>
          <a:p>
            <a:pPr algn="l"/>
            <a:r>
              <a:rPr lang="en-US" altLang="ko-KR" sz="1163" b="1" dirty="0">
                <a:solidFill>
                  <a:srgbClr val="1A1A2E"/>
                </a:solidFill>
                <a:latin typeface="Noto Sans KR"/>
                <a:ea typeface="Noto Sans KR"/>
              </a:rPr>
              <a:t>PDF </a:t>
            </a:r>
            <a:r>
              <a:rPr lang="ko-KR" altLang="en-US" sz="1163" b="1" dirty="0">
                <a:solidFill>
                  <a:srgbClr val="1A1A2E"/>
                </a:solidFill>
                <a:latin typeface="Noto Sans KR"/>
                <a:ea typeface="Noto Sans KR"/>
              </a:rPr>
              <a:t>뷰어에서는 전자서명을 이해하기 쉽지 않다</a:t>
            </a:r>
            <a:r>
              <a:rPr lang="en-US" altLang="ko-KR" sz="1163" b="1" dirty="0">
                <a:solidFill>
                  <a:srgbClr val="1A1A2E"/>
                </a:solidFill>
                <a:latin typeface="Noto Sans KR"/>
                <a:ea typeface="Noto Sans KR"/>
              </a:rPr>
              <a:t>.</a:t>
            </a:r>
            <a:endParaRPr lang="ko-KR" sz="1163" dirty="0"/>
          </a:p>
        </p:txBody>
      </p:sp>
      <p:sp>
        <p:nvSpPr>
          <p:cNvPr id="24" name="Text 24"/>
          <p:cNvSpPr txBox="1"/>
          <p:nvPr/>
        </p:nvSpPr>
        <p:spPr>
          <a:xfrm>
            <a:off x="6370141" y="1428750"/>
            <a:ext cx="56182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1" i="0">
                <a:solidFill>
                  <a:srgbClr val="718096"/>
                </a:solidFill>
                <a:latin typeface="Noto Sans KR"/>
                <a:ea typeface="Noto Sans KR"/>
              </a:rPr>
              <a:t>확인되는 것</a:t>
            </a:r>
            <a:endParaRPr lang="ko-KR" sz="825"/>
          </a:p>
        </p:txBody>
      </p:sp>
      <p:sp>
        <p:nvSpPr>
          <p:cNvPr id="25" name="Text 25"/>
          <p:cNvSpPr txBox="1"/>
          <p:nvPr/>
        </p:nvSpPr>
        <p:spPr>
          <a:xfrm>
            <a:off x="6370141" y="3732609"/>
            <a:ext cx="79965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1" i="0">
                <a:solidFill>
                  <a:srgbClr val="FFFFFF"/>
                </a:solidFill>
                <a:latin typeface="Noto Sans KR"/>
                <a:ea typeface="Noto Sans KR"/>
              </a:rPr>
              <a:t>확인되지 않는 것</a:t>
            </a:r>
            <a:endParaRPr lang="ko-KR" sz="825"/>
          </a:p>
        </p:txBody>
      </p:sp>
      <p:sp>
        <p:nvSpPr>
          <p:cNvPr id="26" name="Text 26"/>
          <p:cNvSpPr txBox="1"/>
          <p:nvPr/>
        </p:nvSpPr>
        <p:spPr>
          <a:xfrm>
            <a:off x="1134666" y="6122194"/>
            <a:ext cx="277877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 lang="ko-KR" sz="1013" dirty="0"/>
          </a:p>
        </p:txBody>
      </p:sp>
      <p:sp>
        <p:nvSpPr>
          <p:cNvPr id="27" name="Text 27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31" name="Text 31"/>
          <p:cNvSpPr txBox="1"/>
          <p:nvPr/>
        </p:nvSpPr>
        <p:spPr>
          <a:xfrm>
            <a:off x="628649" y="6074569"/>
            <a:ext cx="5266619" cy="2440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altLang="en-US" sz="1013" b="1" dirty="0">
                <a:latin typeface="Noto Sans KR"/>
                <a:ea typeface="Noto Sans KR"/>
              </a:rPr>
              <a:t>대다수의 전자문서는 전자서명을 포함해서 배포하지 않는다</a:t>
            </a:r>
            <a:r>
              <a:rPr lang="en-US" altLang="ko-KR" sz="1013" b="1" dirty="0">
                <a:latin typeface="Noto Sans KR"/>
                <a:ea typeface="Noto Sans KR"/>
              </a:rPr>
              <a:t>.</a:t>
            </a:r>
          </a:p>
          <a:p>
            <a:r>
              <a:rPr lang="ko-KR" altLang="en-US" sz="1013" b="1" dirty="0">
                <a:solidFill>
                  <a:srgbClr val="1A1A2E"/>
                </a:solidFill>
                <a:latin typeface="Noto Sans KR"/>
                <a:ea typeface="Noto Sans KR"/>
              </a:rPr>
              <a:t>대다수의 사용자는 전자문의서의 </a:t>
            </a:r>
            <a:r>
              <a:rPr lang="ko-KR" altLang="ko-KR" sz="1013" b="1" dirty="0">
                <a:solidFill>
                  <a:srgbClr val="1A4A7A"/>
                </a:solidFill>
                <a:latin typeface="Noto Sans KR"/>
                <a:ea typeface="Noto Sans KR"/>
              </a:rPr>
              <a:t>서명을 확인해야 한다는 것 자체를 모른다.</a:t>
            </a:r>
            <a:r>
              <a:rPr lang="en-US" altLang="ko-KR" sz="1013" b="1" dirty="0">
                <a:solidFill>
                  <a:srgbClr val="1A4A7A"/>
                </a:solidFill>
                <a:latin typeface="Noto Sans KR"/>
                <a:ea typeface="Noto Sans KR"/>
              </a:rPr>
              <a:t> </a:t>
            </a:r>
            <a:endParaRPr lang="en-US" altLang="ko-KR" sz="1013" b="1" dirty="0">
              <a:latin typeface="Noto Sans KR"/>
              <a:ea typeface="Noto Sans KR"/>
            </a:endParaRPr>
          </a:p>
          <a:p>
            <a:endParaRPr lang="en-US" altLang="ko-KR" sz="1013" b="1" dirty="0">
              <a:latin typeface="Noto Sans KR"/>
              <a:ea typeface="Noto Sans KR"/>
            </a:endParaRPr>
          </a:p>
          <a:p>
            <a:endParaRPr lang="ko-KR" altLang="ko-KR" sz="1013" dirty="0"/>
          </a:p>
          <a:p>
            <a:pPr algn="l"/>
            <a:endParaRPr lang="ko-KR" sz="1013" dirty="0"/>
          </a:p>
        </p:txBody>
      </p:sp>
      <p:sp>
        <p:nvSpPr>
          <p:cNvPr id="32" name="Text 32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02 / 13</a:t>
            </a:r>
            <a:endParaRPr lang="ko-KR" sz="788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A9B6D9C-2E02-23EB-165C-F64AAA8B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0" y="1800749"/>
            <a:ext cx="3791601" cy="3061494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A9201DE-9469-B5DD-2DDD-CEF2B7446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969" y="3063727"/>
            <a:ext cx="3338031" cy="2783176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C40E4A-F839-5EE9-0DFB-918BCC42340B}"/>
              </a:ext>
            </a:extLst>
          </p:cNvPr>
          <p:cNvSpPr/>
          <p:nvPr/>
        </p:nvSpPr>
        <p:spPr>
          <a:xfrm>
            <a:off x="2045528" y="3808809"/>
            <a:ext cx="2786738" cy="3306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브라우저 </a:t>
            </a:r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PDF 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보기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AAE58D-EB1B-C107-44C6-D52F4AFA4231}"/>
              </a:ext>
            </a:extLst>
          </p:cNvPr>
          <p:cNvSpPr/>
          <p:nvPr/>
        </p:nvSpPr>
        <p:spPr>
          <a:xfrm>
            <a:off x="447675" y="1431472"/>
            <a:ext cx="2786738" cy="3306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PDF 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뷰어 보기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DFBDCC5A-D51B-066E-0A0B-E8DF337B6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457200" y="1590675"/>
            <a:ext cx="5420023" cy="4283869"/>
          </a:xfrm>
          <a:prstGeom prst="rect">
            <a:avLst/>
          </a:prstGeom>
          <a:solidFill>
            <a:srgbClr val="FAFBFD">
              <a:alpha val="100000"/>
            </a:srgbClr>
          </a:solidFill>
          <a:ln w="9525">
            <a:solidFill>
              <a:srgbClr val="C3CFE0"/>
            </a:solidFill>
          </a:ln>
        </p:spPr>
      </p:sp>
      <p:sp>
        <p:nvSpPr>
          <p:cNvPr id="5" name="Box 5"/>
          <p:cNvSpPr/>
          <p:nvPr/>
        </p:nvSpPr>
        <p:spPr>
          <a:xfrm>
            <a:off x="6029623" y="1590675"/>
            <a:ext cx="5705177" cy="1965722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14" name="Box 14"/>
          <p:cNvSpPr/>
          <p:nvPr/>
        </p:nvSpPr>
        <p:spPr>
          <a:xfrm>
            <a:off x="6029623" y="3908822"/>
            <a:ext cx="5705177" cy="1965722"/>
          </a:xfrm>
          <a:prstGeom prst="rect">
            <a:avLst/>
          </a:prstGeom>
          <a:solidFill>
            <a:srgbClr val="FFFDF6">
              <a:alpha val="100000"/>
            </a:srgbClr>
          </a:solidFill>
          <a:ln w="9525">
            <a:solidFill>
              <a:srgbClr val="E0A96D"/>
            </a:solidFill>
          </a:ln>
        </p:spPr>
      </p:sp>
      <p:sp>
        <p:nvSpPr>
          <p:cNvPr id="15" name="Box 15"/>
          <p:cNvSpPr/>
          <p:nvPr/>
        </p:nvSpPr>
        <p:spPr>
          <a:xfrm>
            <a:off x="6162973" y="3986808"/>
            <a:ext cx="1309539" cy="409575"/>
          </a:xfrm>
          <a:prstGeom prst="rect">
            <a:avLst/>
          </a:prstGeom>
          <a:solidFill>
            <a:srgbClr val="FFFDF6">
              <a:alpha val="100000"/>
            </a:srgbClr>
          </a:solidFill>
          <a:ln w="9525">
            <a:solidFill>
              <a:srgbClr val="E0A96D"/>
            </a:solidFill>
          </a:ln>
        </p:spPr>
      </p:sp>
      <p:sp>
        <p:nvSpPr>
          <p:cNvPr id="16" name="Box 16"/>
          <p:cNvSpPr/>
          <p:nvPr/>
        </p:nvSpPr>
        <p:spPr>
          <a:xfrm>
            <a:off x="7539186" y="3986808"/>
            <a:ext cx="1309688" cy="409575"/>
          </a:xfrm>
          <a:prstGeom prst="rect">
            <a:avLst/>
          </a:prstGeom>
          <a:solidFill>
            <a:srgbClr val="FFFDF6">
              <a:alpha val="100000"/>
            </a:srgbClr>
          </a:solidFill>
          <a:ln w="9525">
            <a:solidFill>
              <a:srgbClr val="E0A96D"/>
            </a:solidFill>
          </a:ln>
        </p:spPr>
      </p:sp>
      <p:sp>
        <p:nvSpPr>
          <p:cNvPr id="17" name="Box 17"/>
          <p:cNvSpPr/>
          <p:nvPr/>
        </p:nvSpPr>
        <p:spPr>
          <a:xfrm>
            <a:off x="8915549" y="3986808"/>
            <a:ext cx="1309539" cy="409575"/>
          </a:xfrm>
          <a:prstGeom prst="rect">
            <a:avLst/>
          </a:prstGeom>
          <a:solidFill>
            <a:srgbClr val="FFFDF6">
              <a:alpha val="100000"/>
            </a:srgbClr>
          </a:solidFill>
          <a:ln w="9525">
            <a:solidFill>
              <a:srgbClr val="E0A96D"/>
            </a:solidFill>
          </a:ln>
        </p:spPr>
      </p:sp>
      <p:sp>
        <p:nvSpPr>
          <p:cNvPr id="18" name="Box 18"/>
          <p:cNvSpPr/>
          <p:nvPr/>
        </p:nvSpPr>
        <p:spPr>
          <a:xfrm>
            <a:off x="10291763" y="3986808"/>
            <a:ext cx="1309688" cy="409575"/>
          </a:xfrm>
          <a:prstGeom prst="rect">
            <a:avLst/>
          </a:prstGeom>
          <a:solidFill>
            <a:srgbClr val="FFFDF6">
              <a:alpha val="100000"/>
            </a:srgbClr>
          </a:solidFill>
          <a:ln w="9525">
            <a:solidFill>
              <a:srgbClr val="E0A96D"/>
            </a:solidFill>
          </a:ln>
        </p:spPr>
      </p:sp>
      <p:sp>
        <p:nvSpPr>
          <p:cNvPr id="19" name="Box 19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20" name="Box 20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457200" y="133350"/>
            <a:ext cx="19679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PKI 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기반 전자서명 신뢰검증 구조</a:t>
            </a:r>
            <a:endParaRPr lang="ko-KR" sz="1575" dirty="0"/>
          </a:p>
        </p:txBody>
      </p:sp>
      <p:sp>
        <p:nvSpPr>
          <p:cNvPr id="22" name="Text 22"/>
          <p:cNvSpPr txBox="1"/>
          <p:nvPr/>
        </p:nvSpPr>
        <p:spPr>
          <a:xfrm>
            <a:off x="457200" y="741759"/>
            <a:ext cx="5772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>
                <a:solidFill>
                  <a:srgbClr val="1A1A2E"/>
                </a:solidFill>
                <a:latin typeface="Noto Sans KR"/>
                <a:ea typeface="Noto Sans KR"/>
              </a:rPr>
              <a:t>전자서명 신뢰는 인증서 경로 검증으로 해결해 왔고, 이 방식은 경로가 이어져 있어야 동작한다.</a:t>
            </a:r>
            <a:endParaRPr lang="ko-KR" sz="1163"/>
          </a:p>
        </p:txBody>
      </p:sp>
      <p:sp>
        <p:nvSpPr>
          <p:cNvPr id="23" name="Text 23"/>
          <p:cNvSpPr txBox="1"/>
          <p:nvPr/>
        </p:nvSpPr>
        <p:spPr>
          <a:xfrm>
            <a:off x="457200" y="1352550"/>
            <a:ext cx="147622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 dirty="0">
                <a:solidFill>
                  <a:srgbClr val="5B9BD5"/>
                </a:solidFill>
                <a:latin typeface="Noto Sans KR"/>
                <a:ea typeface="Noto Sans KR"/>
              </a:rPr>
              <a:t>CMS 구조와 인증서 체인 검증</a:t>
            </a:r>
            <a:endParaRPr lang="ko-KR" sz="863" dirty="0"/>
          </a:p>
        </p:txBody>
      </p:sp>
      <p:sp>
        <p:nvSpPr>
          <p:cNvPr id="28" name="Text 28"/>
          <p:cNvSpPr txBox="1"/>
          <p:nvPr/>
        </p:nvSpPr>
        <p:spPr>
          <a:xfrm>
            <a:off x="6029623" y="1352550"/>
            <a:ext cx="95428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 dirty="0" err="1">
                <a:solidFill>
                  <a:srgbClr val="5B9BD5"/>
                </a:solidFill>
                <a:latin typeface="Noto Sans KR"/>
                <a:ea typeface="Noto Sans KR"/>
              </a:rPr>
              <a:t>GPKI</a:t>
            </a:r>
            <a:r>
              <a:rPr lang="ko-KR" sz="863" b="1" i="0" dirty="0">
                <a:solidFill>
                  <a:srgbClr val="5B9BD5"/>
                </a:solidFill>
                <a:latin typeface="Noto Sans KR"/>
                <a:ea typeface="Noto Sans KR"/>
              </a:rPr>
              <a:t> · </a:t>
            </a:r>
            <a:r>
              <a:rPr lang="ko-KR" sz="863" b="1" i="0" dirty="0" err="1">
                <a:solidFill>
                  <a:srgbClr val="5B9BD5"/>
                </a:solidFill>
                <a:latin typeface="Noto Sans KR"/>
                <a:ea typeface="Noto Sans KR"/>
              </a:rPr>
              <a:t>NPKI</a:t>
            </a:r>
            <a:r>
              <a:rPr lang="ko-KR" sz="863" b="1" i="0" dirty="0">
                <a:solidFill>
                  <a:srgbClr val="5B9BD5"/>
                </a:solidFill>
                <a:latin typeface="Noto Sans KR"/>
                <a:ea typeface="Noto Sans KR"/>
              </a:rPr>
              <a:t> 구조</a:t>
            </a:r>
            <a:r>
              <a:rPr lang="en-US" altLang="ko-KR" sz="863" b="1" i="0" dirty="0">
                <a:solidFill>
                  <a:srgbClr val="5B9BD5"/>
                </a:solidFill>
                <a:latin typeface="Noto Sans KR"/>
                <a:ea typeface="Noto Sans KR"/>
              </a:rPr>
              <a:t> (1999~2020)</a:t>
            </a:r>
            <a:endParaRPr lang="ko-KR" sz="863" dirty="0"/>
          </a:p>
        </p:txBody>
      </p:sp>
      <p:sp>
        <p:nvSpPr>
          <p:cNvPr id="32" name="Text 32"/>
          <p:cNvSpPr txBox="1"/>
          <p:nvPr/>
        </p:nvSpPr>
        <p:spPr>
          <a:xfrm>
            <a:off x="6739682" y="4043958"/>
            <a:ext cx="17517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8" b="1" dirty="0">
                <a:solidFill>
                  <a:srgbClr val="7B341E"/>
                </a:solidFill>
                <a:latin typeface="Noto Sans KR"/>
                <a:ea typeface="Noto Sans KR"/>
              </a:rPr>
              <a:t>네이버 전자서명</a:t>
            </a:r>
            <a:endParaRPr lang="ko-KR" sz="788" dirty="0"/>
          </a:p>
        </p:txBody>
      </p:sp>
      <p:sp>
        <p:nvSpPr>
          <p:cNvPr id="33" name="Text 33"/>
          <p:cNvSpPr txBox="1"/>
          <p:nvPr/>
        </p:nvSpPr>
        <p:spPr>
          <a:xfrm>
            <a:off x="8113961" y="4043958"/>
            <a:ext cx="1791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8" b="1" i="0" dirty="0">
                <a:solidFill>
                  <a:srgbClr val="7B341E"/>
                </a:solidFill>
                <a:latin typeface="Noto Sans KR"/>
                <a:ea typeface="Noto Sans KR"/>
              </a:rPr>
              <a:t>카카오 전자서명</a:t>
            </a:r>
            <a:endParaRPr lang="ko-KR" sz="788" dirty="0"/>
          </a:p>
        </p:txBody>
      </p:sp>
      <p:sp>
        <p:nvSpPr>
          <p:cNvPr id="34" name="Text 34"/>
          <p:cNvSpPr txBox="1"/>
          <p:nvPr/>
        </p:nvSpPr>
        <p:spPr>
          <a:xfrm>
            <a:off x="9491365" y="4043958"/>
            <a:ext cx="1768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8" b="1" dirty="0">
                <a:solidFill>
                  <a:srgbClr val="7B341E"/>
                </a:solidFill>
                <a:latin typeface="Noto Sans KR"/>
                <a:ea typeface="Noto Sans KR"/>
              </a:rPr>
              <a:t>토스 전자서명</a:t>
            </a:r>
            <a:endParaRPr lang="ko-KR" sz="788" dirty="0"/>
          </a:p>
        </p:txBody>
      </p:sp>
      <p:sp>
        <p:nvSpPr>
          <p:cNvPr id="35" name="Text 35"/>
          <p:cNvSpPr txBox="1"/>
          <p:nvPr/>
        </p:nvSpPr>
        <p:spPr>
          <a:xfrm>
            <a:off x="10864751" y="4043958"/>
            <a:ext cx="18261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altLang="ko-KR" sz="788" b="1" i="0" dirty="0">
                <a:solidFill>
                  <a:srgbClr val="7B341E"/>
                </a:solidFill>
                <a:latin typeface="Noto Sans KR"/>
                <a:ea typeface="Noto Sans KR"/>
              </a:rPr>
              <a:t>Pass </a:t>
            </a:r>
            <a:r>
              <a:rPr lang="ko-KR" altLang="en-US" sz="788" b="1" i="0" dirty="0">
                <a:solidFill>
                  <a:srgbClr val="7B341E"/>
                </a:solidFill>
                <a:latin typeface="Noto Sans KR"/>
                <a:ea typeface="Noto Sans KR"/>
              </a:rPr>
              <a:t>전자서명</a:t>
            </a:r>
            <a:endParaRPr lang="ko-KR" sz="788" dirty="0"/>
          </a:p>
        </p:txBody>
      </p:sp>
      <p:sp>
        <p:nvSpPr>
          <p:cNvPr id="36" name="Text 36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39" name="Text 39"/>
          <p:cNvSpPr txBox="1"/>
          <p:nvPr/>
        </p:nvSpPr>
        <p:spPr>
          <a:xfrm>
            <a:off x="6648004" y="4215408"/>
            <a:ext cx="35852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675" b="0" i="0">
                <a:solidFill>
                  <a:srgbClr val="B7791F"/>
                </a:solidFill>
                <a:latin typeface="Noto Sans KR"/>
                <a:ea typeface="Noto Sans KR"/>
              </a:rPr>
              <a:t>자체 루트</a:t>
            </a:r>
            <a:endParaRPr lang="ko-KR" sz="675"/>
          </a:p>
        </p:txBody>
      </p:sp>
      <p:sp>
        <p:nvSpPr>
          <p:cNvPr id="40" name="Text 40"/>
          <p:cNvSpPr txBox="1"/>
          <p:nvPr/>
        </p:nvSpPr>
        <p:spPr>
          <a:xfrm>
            <a:off x="8024217" y="4215408"/>
            <a:ext cx="35852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675" b="0" i="0">
                <a:solidFill>
                  <a:srgbClr val="B7791F"/>
                </a:solidFill>
                <a:latin typeface="Noto Sans KR"/>
                <a:ea typeface="Noto Sans KR"/>
              </a:rPr>
              <a:t>자체 루트</a:t>
            </a:r>
            <a:endParaRPr lang="ko-KR" sz="675"/>
          </a:p>
        </p:txBody>
      </p:sp>
      <p:sp>
        <p:nvSpPr>
          <p:cNvPr id="41" name="Text 41"/>
          <p:cNvSpPr txBox="1"/>
          <p:nvPr/>
        </p:nvSpPr>
        <p:spPr>
          <a:xfrm>
            <a:off x="9400580" y="4215408"/>
            <a:ext cx="35852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675" b="0" i="0">
                <a:solidFill>
                  <a:srgbClr val="B7791F"/>
                </a:solidFill>
                <a:latin typeface="Noto Sans KR"/>
                <a:ea typeface="Noto Sans KR"/>
              </a:rPr>
              <a:t>자체 루트</a:t>
            </a:r>
            <a:endParaRPr lang="ko-KR" sz="675"/>
          </a:p>
        </p:txBody>
      </p:sp>
      <p:sp>
        <p:nvSpPr>
          <p:cNvPr id="42" name="Text 42"/>
          <p:cNvSpPr txBox="1"/>
          <p:nvPr/>
        </p:nvSpPr>
        <p:spPr>
          <a:xfrm>
            <a:off x="10776793" y="4215408"/>
            <a:ext cx="35852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675" b="0" i="0">
                <a:solidFill>
                  <a:srgbClr val="B7791F"/>
                </a:solidFill>
                <a:latin typeface="Noto Sans KR"/>
                <a:ea typeface="Noto Sans KR"/>
              </a:rPr>
              <a:t>자체 루트</a:t>
            </a:r>
            <a:endParaRPr lang="ko-KR" sz="675"/>
          </a:p>
        </p:txBody>
      </p:sp>
      <p:sp>
        <p:nvSpPr>
          <p:cNvPr id="44" name="Text 44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03 / 13</a:t>
            </a:r>
            <a:endParaRPr lang="ko-KR" sz="788"/>
          </a:p>
        </p:txBody>
      </p:sp>
      <p:sp>
        <p:nvSpPr>
          <p:cNvPr id="47" name="Text 47"/>
          <p:cNvSpPr txBox="1"/>
          <p:nvPr/>
        </p:nvSpPr>
        <p:spPr>
          <a:xfrm>
            <a:off x="6029623" y="3661172"/>
            <a:ext cx="108376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 dirty="0">
                <a:solidFill>
                  <a:srgbClr val="B7791F"/>
                </a:solidFill>
                <a:latin typeface="Noto Sans KR"/>
                <a:ea typeface="Noto Sans KR"/>
              </a:rPr>
              <a:t>민간사업자 개별 구조 </a:t>
            </a:r>
            <a:r>
              <a:rPr lang="en-US" altLang="ko-KR" sz="863" b="1" i="0" dirty="0">
                <a:solidFill>
                  <a:srgbClr val="B7791F"/>
                </a:solidFill>
                <a:latin typeface="Noto Sans KR"/>
                <a:ea typeface="Noto Sans KR"/>
              </a:rPr>
              <a:t>(2020~2026)</a:t>
            </a:r>
            <a:endParaRPr lang="ko-KR" sz="863" dirty="0"/>
          </a:p>
        </p:txBody>
      </p:sp>
      <p:sp>
        <p:nvSpPr>
          <p:cNvPr id="48" name="Text 48"/>
          <p:cNvSpPr txBox="1"/>
          <p:nvPr/>
        </p:nvSpPr>
        <p:spPr>
          <a:xfrm>
            <a:off x="628650" y="6122194"/>
            <a:ext cx="262577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013" b="1" i="0" dirty="0">
                <a:solidFill>
                  <a:srgbClr val="7B341E"/>
                </a:solidFill>
                <a:latin typeface="Noto Sans KR"/>
                <a:ea typeface="Noto Sans KR"/>
              </a:rPr>
              <a:t>경로 검증이 끊어진 경우</a:t>
            </a:r>
            <a:r>
              <a:rPr lang="en-US" altLang="ko-KR" sz="1013" b="1" i="0" dirty="0">
                <a:solidFill>
                  <a:srgbClr val="7B341E"/>
                </a:solidFill>
                <a:latin typeface="Noto Sans KR"/>
                <a:ea typeface="Noto Sans KR"/>
              </a:rPr>
              <a:t>(2020</a:t>
            </a:r>
            <a:r>
              <a:rPr lang="ko-KR" altLang="en-US" sz="1013" b="1" i="0" dirty="0">
                <a:solidFill>
                  <a:srgbClr val="7B341E"/>
                </a:solidFill>
                <a:latin typeface="Noto Sans KR"/>
                <a:ea typeface="Noto Sans KR"/>
              </a:rPr>
              <a:t>년 이후 국내 전자서명은 공동인증</a:t>
            </a:r>
            <a:r>
              <a:rPr lang="en-US" altLang="ko-KR" sz="1013" b="1" i="0" dirty="0">
                <a:solidFill>
                  <a:srgbClr val="7B341E"/>
                </a:solidFill>
                <a:latin typeface="Noto Sans KR"/>
                <a:ea typeface="Noto Sans KR"/>
              </a:rPr>
              <a:t>/</a:t>
            </a:r>
            <a:r>
              <a:rPr lang="ko-KR" altLang="en-US" sz="1013" b="1" i="0" dirty="0">
                <a:solidFill>
                  <a:srgbClr val="7B341E"/>
                </a:solidFill>
                <a:latin typeface="Noto Sans KR"/>
                <a:ea typeface="Noto Sans KR"/>
              </a:rPr>
              <a:t>간편인증 으로 인증서 경로검증이 끊어졌다</a:t>
            </a:r>
            <a:r>
              <a:rPr lang="en-US" altLang="ko-KR" sz="1013" b="1" i="0" dirty="0">
                <a:solidFill>
                  <a:srgbClr val="7B341E"/>
                </a:solidFill>
                <a:latin typeface="Noto Sans KR"/>
                <a:ea typeface="Noto Sans KR"/>
              </a:rPr>
              <a:t>.)</a:t>
            </a:r>
            <a:endParaRPr lang="ko-KR" sz="1013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95B0B85-59DB-CE1F-D3CE-4C461F285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539" y="4157251"/>
            <a:ext cx="838540" cy="187367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C4F545-6F31-39CE-64BF-FB515A180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049" y="4157251"/>
            <a:ext cx="838540" cy="1873676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182CACC0-8A60-B5D6-8128-2986FFC95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559" y="4157251"/>
            <a:ext cx="838540" cy="1873676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7252595-A582-E9E4-7A6A-3B04E12B3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8" y="4157251"/>
            <a:ext cx="838540" cy="1873676"/>
          </a:xfrm>
          <a:prstGeom prst="rect">
            <a:avLst/>
          </a:prstGeom>
        </p:spPr>
      </p:pic>
      <p:pic>
        <p:nvPicPr>
          <p:cNvPr id="54" name="Google Shape;62;p14">
            <a:extLst>
              <a:ext uri="{FF2B5EF4-FFF2-40B4-BE49-F238E27FC236}">
                <a16:creationId xmlns:a16="http://schemas.microsoft.com/office/drawing/2014/main" id="{604FF22C-26AB-2FCD-CC7A-57B2BC97E3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80" b="980"/>
          <a:stretch/>
        </p:blipFill>
        <p:spPr>
          <a:xfrm>
            <a:off x="6674271" y="1705749"/>
            <a:ext cx="4190479" cy="154744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D9715B8C-7195-84A5-CB22-E0DFEE59F305}"/>
              </a:ext>
            </a:extLst>
          </p:cNvPr>
          <p:cNvSpPr/>
          <p:nvPr/>
        </p:nvSpPr>
        <p:spPr>
          <a:xfrm>
            <a:off x="628650" y="1910164"/>
            <a:ext cx="2786738" cy="3306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서명 검증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FA4E956-2A3D-61CC-1748-837D34F98339}"/>
              </a:ext>
            </a:extLst>
          </p:cNvPr>
          <p:cNvSpPr/>
          <p:nvPr/>
        </p:nvSpPr>
        <p:spPr>
          <a:xfrm>
            <a:off x="3673454" y="1891693"/>
            <a:ext cx="2153055" cy="3306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체인 검증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1DEA7733-625F-DC27-26CE-10B0D22AA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782" y="2369818"/>
            <a:ext cx="2021927" cy="2782734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CE2A3858-EC09-F31C-52B3-4DBA164D9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75" y="2346227"/>
            <a:ext cx="2983783" cy="2806325"/>
          </a:xfrm>
          <a:prstGeom prst="rect">
            <a:avLst/>
          </a:prstGeom>
        </p:spPr>
      </p:pic>
      <p:sp>
        <p:nvSpPr>
          <p:cNvPr id="65" name="직사각형 64">
            <a:extLst>
              <a:ext uri="{FF2B5EF4-FFF2-40B4-BE49-F238E27FC236}">
                <a16:creationId xmlns:a16="http://schemas.microsoft.com/office/drawing/2014/main" id="{9A764395-456A-1325-AF31-D226ABEF2076}"/>
              </a:ext>
            </a:extLst>
          </p:cNvPr>
          <p:cNvSpPr/>
          <p:nvPr/>
        </p:nvSpPr>
        <p:spPr>
          <a:xfrm>
            <a:off x="617875" y="3429000"/>
            <a:ext cx="1439525" cy="3429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08FBB7A7-94FB-A02F-C3E8-542073DDF1AF}"/>
              </a:ext>
            </a:extLst>
          </p:cNvPr>
          <p:cNvCxnSpPr>
            <a:endCxn id="60" idx="2"/>
          </p:cNvCxnSpPr>
          <p:nvPr/>
        </p:nvCxnSpPr>
        <p:spPr>
          <a:xfrm>
            <a:off x="563880" y="3556397"/>
            <a:ext cx="4204866" cy="1596155"/>
          </a:xfrm>
          <a:prstGeom prst="bentConnector4">
            <a:avLst>
              <a:gd name="adj1" fmla="val -983"/>
              <a:gd name="adj2" fmla="val 11432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4A8178F-71A0-44D5-3013-681F5FED9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5" name="Box 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graphicFrame>
        <p:nvGraphicFramePr>
          <p:cNvPr id="6" name="Table 6"/>
          <p:cNvGraphicFramePr/>
          <p:nvPr>
            <p:extLst>
              <p:ext uri="{D42A27DB-BD31-4B8C-83A1-F6EECF244321}">
                <p14:modId xmlns:p14="http://schemas.microsoft.com/office/powerpoint/2010/main" val="2949436168"/>
              </p:ext>
            </p:extLst>
          </p:nvPr>
        </p:nvGraphicFramePr>
        <p:xfrm>
          <a:off x="457200" y="1628775"/>
          <a:ext cx="5200021" cy="424576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9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5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lang="ko-KR" sz="900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조건</a:t>
                      </a:r>
                      <a:endParaRPr lang="ko-KR" sz="900" dirty="0">
                        <a:solidFill>
                          <a:schemeClr val="bg1"/>
                        </a:solidFill>
                      </a:endParaRPr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의미</a:t>
                      </a:r>
                      <a:endParaRPr lang="ko-KR" sz="900" dirty="0">
                        <a:solidFill>
                          <a:schemeClr val="bg1"/>
                        </a:solidFill>
                      </a:endParaRPr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근거</a:t>
                      </a:r>
                      <a:endParaRPr lang="ko-KR" sz="900" dirty="0">
                        <a:solidFill>
                          <a:schemeClr val="bg1"/>
                        </a:solidFill>
                      </a:endParaRPr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866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권위 있는 발행자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목록 발행 주체가 인정제도 운영 기관과 일치한다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i="0" dirty="0">
                          <a:solidFill>
                            <a:srgbClr val="5A5A70"/>
                          </a:solidFill>
                          <a:latin typeface="Noto Sans KR"/>
                          <a:ea typeface="Noto Sans KR"/>
                        </a:rPr>
                        <a:t>제도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7">
                <a:tc>
                  <a:txBody>
                    <a:bodyPr/>
                    <a:lstStyle/>
                    <a:p>
                      <a:pPr algn="l"/>
                      <a:r>
                        <a:rPr lang="ko-KR" sz="900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기계판독</a:t>
                      </a:r>
                      <a:endParaRPr lang="ko-KR" sz="90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사람이 읽는 공고문이 아니라 검증 소프트웨어가 </a:t>
                      </a:r>
                      <a:r>
                        <a:rPr lang="ko-KR" sz="900" b="0" i="0" dirty="0" err="1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파싱하는</a:t>
                      </a:r>
                      <a:r>
                        <a:rPr lang="ko-KR" sz="900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lang="ko-KR" sz="900" b="0" i="0" dirty="0" err="1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XML이다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i="0" dirty="0">
                          <a:solidFill>
                            <a:srgbClr val="1A4A7A"/>
                          </a:solidFill>
                          <a:latin typeface="Noto Sans KR"/>
                          <a:ea typeface="Noto Sans KR"/>
                        </a:rPr>
                        <a:t>규격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9707">
                <a:tc>
                  <a:txBody>
                    <a:bodyPr/>
                    <a:lstStyle/>
                    <a:p>
                      <a:pPr algn="l"/>
                      <a:r>
                        <a:rPr lang="ko-KR" sz="900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서명된 목록</a:t>
                      </a:r>
                      <a:endParaRPr lang="ko-KR" sz="90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목록 자체가 </a:t>
                      </a:r>
                      <a:r>
                        <a:rPr lang="ko-KR" sz="900" b="0" i="0" dirty="0" err="1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전자서명되어</a:t>
                      </a:r>
                      <a:r>
                        <a:rPr lang="ko-KR" sz="900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lang="ko-KR" sz="900" b="0" i="0" dirty="0" err="1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위·변조를</a:t>
                      </a:r>
                      <a:r>
                        <a:rPr lang="ko-KR" sz="900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 검출한다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i="0" dirty="0">
                          <a:solidFill>
                            <a:srgbClr val="1A4A7A"/>
                          </a:solidFill>
                          <a:latin typeface="Noto Sans KR"/>
                          <a:ea typeface="Noto Sans KR"/>
                        </a:rPr>
                        <a:t>규격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616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이력 보존</a:t>
                      </a:r>
                      <a:endParaRPr lang="ko-KR" sz="90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현재 상태만이 아니라 언제부터 그 상태였는지를 담는다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i="0" dirty="0">
                          <a:solidFill>
                            <a:srgbClr val="1A4A7A"/>
                          </a:solidFill>
                          <a:latin typeface="Noto Sans KR"/>
                          <a:ea typeface="Noto Sans KR"/>
                        </a:rPr>
                        <a:t>규격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7"/>
          <p:cNvSpPr txBox="1"/>
          <p:nvPr/>
        </p:nvSpPr>
        <p:spPr>
          <a:xfrm>
            <a:off x="457200" y="133350"/>
            <a:ext cx="18933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신뢰목록의 개념과 성립 조건</a:t>
            </a:r>
            <a:endParaRPr lang="ko-KR" sz="1575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741759"/>
            <a:ext cx="56420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 dirty="0">
                <a:solidFill>
                  <a:srgbClr val="1A1A2E"/>
                </a:solidFill>
                <a:latin typeface="Noto Sans KR"/>
                <a:ea typeface="Noto Sans KR"/>
              </a:rPr>
              <a:t>신뢰목록은 국가가 인정한 사업자와 서비스의 상태를 담아 국가가 서명해 배포하는 목록이다.</a:t>
            </a:r>
            <a:endParaRPr lang="ko-KR" sz="1163" dirty="0"/>
          </a:p>
        </p:txBody>
      </p:sp>
      <p:sp>
        <p:nvSpPr>
          <p:cNvPr id="9" name="Text 9"/>
          <p:cNvSpPr txBox="1"/>
          <p:nvPr/>
        </p:nvSpPr>
        <p:spPr>
          <a:xfrm>
            <a:off x="457200" y="1352550"/>
            <a:ext cx="87138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 dirty="0">
                <a:solidFill>
                  <a:srgbClr val="5B9BD5"/>
                </a:solidFill>
                <a:latin typeface="Noto Sans KR"/>
                <a:ea typeface="Noto Sans KR"/>
              </a:rPr>
              <a:t>성립 조건 네 가지</a:t>
            </a:r>
            <a:endParaRPr lang="ko-KR" sz="863" dirty="0"/>
          </a:p>
        </p:txBody>
      </p:sp>
      <p:sp>
        <p:nvSpPr>
          <p:cNvPr id="10" name="Text 10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12" name="Text 12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04 / 13</a:t>
            </a:r>
            <a:endParaRPr lang="ko-KR" sz="788"/>
          </a:p>
        </p:txBody>
      </p:sp>
      <p:sp>
        <p:nvSpPr>
          <p:cNvPr id="13" name="Text 13"/>
          <p:cNvSpPr txBox="1"/>
          <p:nvPr/>
        </p:nvSpPr>
        <p:spPr>
          <a:xfrm>
            <a:off x="628650" y="6122194"/>
            <a:ext cx="3637657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 dirty="0">
                <a:solidFill>
                  <a:srgbClr val="1A1A2E"/>
                </a:solidFill>
                <a:latin typeface="Noto Sans KR"/>
                <a:ea typeface="Noto Sans KR"/>
              </a:rPr>
              <a:t>목록에 담기는 것은 인증서가 아니라 서비스가 지금 어떤 </a:t>
            </a:r>
            <a:r>
              <a:rPr lang="ko-KR" sz="1013" b="1" i="0" dirty="0">
                <a:solidFill>
                  <a:schemeClr val="accent2">
                    <a:lumMod val="50000"/>
                  </a:schemeClr>
                </a:solidFill>
                <a:latin typeface="Noto Sans KR"/>
                <a:ea typeface="Noto Sans KR"/>
              </a:rPr>
              <a:t>상태</a:t>
            </a:r>
            <a:r>
              <a:rPr lang="ko-KR" sz="1013" b="1" i="0" dirty="0">
                <a:solidFill>
                  <a:srgbClr val="1A1A2E"/>
                </a:solidFill>
                <a:latin typeface="Noto Sans KR"/>
                <a:ea typeface="Noto Sans KR"/>
              </a:rPr>
              <a:t>인지다.</a:t>
            </a:r>
            <a:endParaRPr lang="ko-KR" sz="1013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FD09384-E6A4-6796-2759-C30B7D056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453" y="1127568"/>
            <a:ext cx="5540361" cy="4746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AB2A1A4A-3C02-1787-D03D-A81B04EE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1982688" y="1352550"/>
            <a:ext cx="278904" cy="161925"/>
          </a:xfrm>
          <a:prstGeom prst="rect">
            <a:avLst/>
          </a:prstGeom>
          <a:solidFill>
            <a:srgbClr val="F0F0F5">
              <a:alpha val="100000"/>
            </a:srgbClr>
          </a:solidFill>
          <a:ln>
            <a:noFill/>
          </a:ln>
        </p:spPr>
      </p:sp>
      <p:sp>
        <p:nvSpPr>
          <p:cNvPr id="5" name="Box 5"/>
          <p:cNvSpPr/>
          <p:nvPr/>
        </p:nvSpPr>
        <p:spPr>
          <a:xfrm>
            <a:off x="457200" y="1600200"/>
            <a:ext cx="5562600" cy="1905000"/>
          </a:xfrm>
          <a:prstGeom prst="rect">
            <a:avLst/>
          </a:prstGeom>
          <a:solidFill>
            <a:srgbClr val="FAFBFD">
              <a:alpha val="100000"/>
            </a:srgbClr>
          </a:solidFill>
          <a:ln w="9525">
            <a:solidFill>
              <a:srgbClr val="C3CFE0"/>
            </a:solidFill>
          </a:ln>
        </p:spPr>
      </p:sp>
      <p:sp>
        <p:nvSpPr>
          <p:cNvPr id="6" name="Box 6"/>
          <p:cNvSpPr/>
          <p:nvPr/>
        </p:nvSpPr>
        <p:spPr>
          <a:xfrm>
            <a:off x="7906643" y="1352550"/>
            <a:ext cx="635645" cy="161925"/>
          </a:xfrm>
          <a:prstGeom prst="rect">
            <a:avLst/>
          </a:prstGeom>
          <a:solidFill>
            <a:srgbClr val="EBF4FF">
              <a:alpha val="100000"/>
            </a:srgbClr>
          </a:solidFill>
          <a:ln>
            <a:noFill/>
          </a:ln>
        </p:spPr>
      </p:sp>
      <p:sp>
        <p:nvSpPr>
          <p:cNvPr id="7" name="Box 7"/>
          <p:cNvSpPr/>
          <p:nvPr/>
        </p:nvSpPr>
        <p:spPr>
          <a:xfrm>
            <a:off x="6172200" y="1600200"/>
            <a:ext cx="5562600" cy="1905000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8" name="Box 8"/>
          <p:cNvSpPr/>
          <p:nvPr/>
        </p:nvSpPr>
        <p:spPr>
          <a:xfrm>
            <a:off x="6334125" y="1962150"/>
            <a:ext cx="1200150" cy="666750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9" name="Box 9"/>
          <p:cNvSpPr/>
          <p:nvPr/>
        </p:nvSpPr>
        <p:spPr>
          <a:xfrm>
            <a:off x="7591425" y="2300288"/>
            <a:ext cx="2724150" cy="9525"/>
          </a:xfrm>
          <a:prstGeom prst="rect">
            <a:avLst/>
          </a:prstGeom>
          <a:solidFill>
            <a:srgbClr val="5B9BD5">
              <a:alpha val="100000"/>
            </a:srgbClr>
          </a:solidFill>
          <a:ln>
            <a:noFill/>
          </a:ln>
        </p:spPr>
      </p:sp>
      <p:sp>
        <p:nvSpPr>
          <p:cNvPr id="10" name="Box 10"/>
          <p:cNvSpPr/>
          <p:nvPr/>
        </p:nvSpPr>
        <p:spPr>
          <a:xfrm>
            <a:off x="10372725" y="1962150"/>
            <a:ext cx="1200150" cy="666750"/>
          </a:xfrm>
          <a:prstGeom prst="rect">
            <a:avLst/>
          </a:prstGeom>
          <a:solidFill>
            <a:srgbClr val="EBF4FF">
              <a:alpha val="100000"/>
            </a:srgbClr>
          </a:solidFill>
          <a:ln w="9525">
            <a:solidFill>
              <a:srgbClr val="5B9BD5"/>
            </a:solidFill>
          </a:ln>
        </p:spPr>
      </p:sp>
      <p:sp>
        <p:nvSpPr>
          <p:cNvPr id="11" name="Box 11"/>
          <p:cNvSpPr/>
          <p:nvPr/>
        </p:nvSpPr>
        <p:spPr>
          <a:xfrm>
            <a:off x="7676257" y="2857500"/>
            <a:ext cx="2554337" cy="285750"/>
          </a:xfrm>
          <a:prstGeom prst="rect">
            <a:avLst/>
          </a:prstGeom>
          <a:solidFill>
            <a:srgbClr val="FAFBFD">
              <a:alpha val="100000"/>
            </a:srgbClr>
          </a:solidFill>
          <a:ln w="9525">
            <a:solidFill>
              <a:srgbClr val="DCE4F0"/>
            </a:solidFill>
          </a:ln>
        </p:spPr>
      </p:sp>
      <p:sp>
        <p:nvSpPr>
          <p:cNvPr id="12" name="Box 12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13" name="Box 13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sp>
        <p:nvSpPr>
          <p:cNvPr id="14" name="List 14"/>
          <p:cNvSpPr txBox="1"/>
          <p:nvPr/>
        </p:nvSpPr>
        <p:spPr>
          <a:xfrm>
            <a:off x="457200" y="3829050"/>
            <a:ext cx="5562600" cy="321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47650" indent="-190500">
              <a:buAutoNum type="arabicPeriod"/>
            </a:pPr>
            <a:r>
              <a:rPr lang="ko-KR" sz="938" b="0" i="0" dirty="0">
                <a:solidFill>
                  <a:srgbClr val="2D3748"/>
                </a:solidFill>
                <a:latin typeface="Noto Sans KR"/>
                <a:ea typeface="Noto Sans KR"/>
              </a:rPr>
              <a:t>사업자별 인증센터 사이트에 접속</a:t>
            </a:r>
            <a:endParaRPr lang="ko-KR" sz="938" dirty="0"/>
          </a:p>
        </p:txBody>
      </p:sp>
      <p:sp>
        <p:nvSpPr>
          <p:cNvPr id="15" name="List 15"/>
          <p:cNvSpPr txBox="1"/>
          <p:nvPr/>
        </p:nvSpPr>
        <p:spPr>
          <a:xfrm>
            <a:off x="457200" y="4150519"/>
            <a:ext cx="5562600" cy="321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47650" indent="-190500">
              <a:buAutoNum type="arabicPeriod" startAt="2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인증서·서비스 정보를 화면에서 조회</a:t>
            </a:r>
            <a:endParaRPr lang="ko-KR" sz="938"/>
          </a:p>
        </p:txBody>
      </p:sp>
      <p:sp>
        <p:nvSpPr>
          <p:cNvPr id="16" name="List 16"/>
          <p:cNvSpPr txBox="1"/>
          <p:nvPr/>
        </p:nvSpPr>
        <p:spPr>
          <a:xfrm>
            <a:off x="457200" y="4471988"/>
            <a:ext cx="5562600" cy="321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47650" indent="-190500">
              <a:buAutoNum type="arabicPeriod" startAt="3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유효 여부를 눈으로 확인</a:t>
            </a:r>
            <a:endParaRPr lang="ko-KR" sz="938"/>
          </a:p>
        </p:txBody>
      </p:sp>
      <p:sp>
        <p:nvSpPr>
          <p:cNvPr id="17" name="List 17"/>
          <p:cNvSpPr txBox="1"/>
          <p:nvPr/>
        </p:nvSpPr>
        <p:spPr>
          <a:xfrm>
            <a:off x="457200" y="4793456"/>
            <a:ext cx="5562600" cy="311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47650" indent="-190500">
              <a:buAutoNum type="arabicPeriod" startAt="4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필요하면 앵커를 내려받아 시스템에 반영</a:t>
            </a:r>
            <a:endParaRPr lang="ko-KR" sz="938"/>
          </a:p>
        </p:txBody>
      </p:sp>
      <p:sp>
        <p:nvSpPr>
          <p:cNvPr id="18" name="List 18"/>
          <p:cNvSpPr txBox="1"/>
          <p:nvPr/>
        </p:nvSpPr>
        <p:spPr>
          <a:xfrm>
            <a:off x="6172200" y="3829050"/>
            <a:ext cx="5562600" cy="321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47650" indent="-190500">
              <a:buAutoNum type="arabicPeriod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KISA가 인정사업자 정보를 모아 KR-TL을 발행하고 서명</a:t>
            </a:r>
            <a:endParaRPr lang="ko-KR" sz="938"/>
          </a:p>
        </p:txBody>
      </p:sp>
      <p:sp>
        <p:nvSpPr>
          <p:cNvPr id="19" name="List 19"/>
          <p:cNvSpPr txBox="1"/>
          <p:nvPr/>
        </p:nvSpPr>
        <p:spPr>
          <a:xfrm>
            <a:off x="6172200" y="4150519"/>
            <a:ext cx="5562600" cy="321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47650" indent="-190500">
              <a:buAutoNum type="arabicPeriod" startAt="2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웨일이 배포 주소에서 목록을 주기적으로 내려받음</a:t>
            </a:r>
            <a:endParaRPr lang="ko-KR" sz="938"/>
          </a:p>
        </p:txBody>
      </p:sp>
      <p:sp>
        <p:nvSpPr>
          <p:cNvPr id="20" name="List 20"/>
          <p:cNvSpPr txBox="1"/>
          <p:nvPr/>
        </p:nvSpPr>
        <p:spPr>
          <a:xfrm>
            <a:off x="6172200" y="4471988"/>
            <a:ext cx="5562600" cy="321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47650" indent="-190500">
              <a:buAutoNum type="arabicPeriod" startAt="3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목록 서명·발행시각·유효기간을 확인한 뒤 적용</a:t>
            </a:r>
            <a:endParaRPr lang="ko-KR" sz="938"/>
          </a:p>
        </p:txBody>
      </p:sp>
      <p:sp>
        <p:nvSpPr>
          <p:cNvPr id="21" name="List 21"/>
          <p:cNvSpPr txBox="1"/>
          <p:nvPr/>
        </p:nvSpPr>
        <p:spPr>
          <a:xfrm>
            <a:off x="6172200" y="4793456"/>
            <a:ext cx="5562600" cy="321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47650" indent="-190500">
              <a:buAutoNum type="arabicPeriod" startAt="4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문서를 열 때 목록을 조회해 자동 판정</a:t>
            </a:r>
            <a:endParaRPr lang="ko-KR" sz="938"/>
          </a:p>
        </p:txBody>
      </p:sp>
      <p:sp>
        <p:nvSpPr>
          <p:cNvPr id="22" name="List 22"/>
          <p:cNvSpPr txBox="1"/>
          <p:nvPr/>
        </p:nvSpPr>
        <p:spPr>
          <a:xfrm>
            <a:off x="6172200" y="5114925"/>
            <a:ext cx="5562600" cy="311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47650" indent="-190500">
              <a:buAutoNum type="arabicPeriod" startAt="5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사용자가 결과를 화면에서 바로 확인</a:t>
            </a:r>
            <a:endParaRPr lang="ko-KR" sz="938"/>
          </a:p>
        </p:txBody>
      </p:sp>
      <p:sp>
        <p:nvSpPr>
          <p:cNvPr id="23" name="Text 23"/>
          <p:cNvSpPr txBox="1"/>
          <p:nvPr/>
        </p:nvSpPr>
        <p:spPr>
          <a:xfrm>
            <a:off x="457200" y="133350"/>
            <a:ext cx="26105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신뢰정보 관리체계의 전환</a:t>
            </a:r>
            <a:endParaRPr lang="ko-KR" sz="1575" dirty="0"/>
          </a:p>
        </p:txBody>
      </p:sp>
      <p:sp>
        <p:nvSpPr>
          <p:cNvPr id="24" name="Text 24"/>
          <p:cNvSpPr txBox="1"/>
          <p:nvPr/>
        </p:nvSpPr>
        <p:spPr>
          <a:xfrm>
            <a:off x="457200" y="741759"/>
            <a:ext cx="6097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altLang="en-US" sz="1163" b="1" dirty="0">
                <a:solidFill>
                  <a:srgbClr val="1A1A2E"/>
                </a:solidFill>
                <a:latin typeface="Noto Sans KR"/>
                <a:ea typeface="Noto Sans KR"/>
              </a:rPr>
              <a:t>현재는 담당자가 인증센터에서 직접 확인하지만</a:t>
            </a:r>
            <a:r>
              <a:rPr lang="en-US" altLang="ko-KR" sz="1163" b="1" dirty="0">
                <a:solidFill>
                  <a:srgbClr val="1A1A2E"/>
                </a:solidFill>
                <a:latin typeface="Noto Sans KR"/>
                <a:ea typeface="Noto Sans KR"/>
              </a:rPr>
              <a:t>, KR-TL </a:t>
            </a:r>
            <a:r>
              <a:rPr lang="ko-KR" altLang="en-US" sz="1163" b="1" dirty="0">
                <a:solidFill>
                  <a:srgbClr val="1A1A2E"/>
                </a:solidFill>
                <a:latin typeface="Noto Sans KR"/>
                <a:ea typeface="Noto Sans KR"/>
              </a:rPr>
              <a:t>적용 후에는 소프트웨어가 신뢰정보를 조회</a:t>
            </a:r>
            <a:r>
              <a:rPr lang="en-US" altLang="ko-KR" sz="1163" b="1" dirty="0">
                <a:solidFill>
                  <a:srgbClr val="1A1A2E"/>
                </a:solidFill>
                <a:latin typeface="Noto Sans KR"/>
                <a:ea typeface="Noto Sans KR"/>
              </a:rPr>
              <a:t>·</a:t>
            </a:r>
            <a:r>
              <a:rPr lang="ko-KR" altLang="en-US" sz="1163" b="1" dirty="0">
                <a:solidFill>
                  <a:srgbClr val="1A1A2E"/>
                </a:solidFill>
                <a:latin typeface="Noto Sans KR"/>
                <a:ea typeface="Noto Sans KR"/>
              </a:rPr>
              <a:t>판정한다</a:t>
            </a:r>
            <a:r>
              <a:rPr lang="en-US" altLang="ko-KR" sz="1163" b="1" dirty="0">
                <a:solidFill>
                  <a:srgbClr val="1A1A2E"/>
                </a:solidFill>
                <a:latin typeface="Noto Sans KR"/>
                <a:ea typeface="Noto Sans KR"/>
              </a:rPr>
              <a:t>.</a:t>
            </a:r>
            <a:endParaRPr lang="ko-KR" altLang="en-US" sz="1163" b="1" dirty="0">
              <a:solidFill>
                <a:srgbClr val="1A1A2E"/>
              </a:solidFill>
              <a:latin typeface="Noto Sans KR"/>
              <a:ea typeface="Noto Sans KR"/>
            </a:endParaRPr>
          </a:p>
          <a:p>
            <a:pPr algn="l"/>
            <a:endParaRPr lang="ko-KR" sz="1163" dirty="0"/>
          </a:p>
        </p:txBody>
      </p:sp>
      <p:sp>
        <p:nvSpPr>
          <p:cNvPr id="25" name="Text 25"/>
          <p:cNvSpPr txBox="1"/>
          <p:nvPr/>
        </p:nvSpPr>
        <p:spPr>
          <a:xfrm>
            <a:off x="457200" y="1352550"/>
            <a:ext cx="140211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A0AEC0"/>
                </a:solidFill>
                <a:latin typeface="Noto Sans KR"/>
                <a:ea typeface="Noto Sans KR"/>
              </a:rPr>
              <a:t>적용 전 — 인증센터 수동관리 </a:t>
            </a:r>
            <a:endParaRPr lang="ko-KR" sz="863"/>
          </a:p>
        </p:txBody>
      </p:sp>
      <p:sp>
        <p:nvSpPr>
          <p:cNvPr id="26" name="Text 26"/>
          <p:cNvSpPr txBox="1"/>
          <p:nvPr/>
        </p:nvSpPr>
        <p:spPr>
          <a:xfrm>
            <a:off x="2039838" y="1371600"/>
            <a:ext cx="18365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675" b="1" i="0">
                <a:solidFill>
                  <a:srgbClr val="5A5A70"/>
                </a:solidFill>
                <a:latin typeface="Noto Sans KR"/>
                <a:ea typeface="Noto Sans KR"/>
              </a:rPr>
              <a:t>현재</a:t>
            </a:r>
            <a:endParaRPr lang="ko-KR" sz="675"/>
          </a:p>
        </p:txBody>
      </p:sp>
      <p:sp>
        <p:nvSpPr>
          <p:cNvPr id="27" name="Text 27"/>
          <p:cNvSpPr txBox="1"/>
          <p:nvPr/>
        </p:nvSpPr>
        <p:spPr>
          <a:xfrm>
            <a:off x="2905423" y="2103388"/>
            <a:ext cx="68505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863" b="0" i="0" dirty="0">
                <a:solidFill>
                  <a:srgbClr val="FF0000"/>
                </a:solidFill>
                <a:highlight>
                  <a:srgbClr val="FFFF00"/>
                </a:highlight>
                <a:latin typeface="Noto Sans KR"/>
                <a:ea typeface="Noto Sans KR"/>
              </a:rPr>
              <a:t>캡처 삽입 위치</a:t>
            </a:r>
            <a:endParaRPr lang="ko-KR" sz="863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2484239" y="2397175"/>
            <a:ext cx="15272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900" b="1" i="0">
                <a:solidFill>
                  <a:srgbClr val="718096"/>
                </a:solidFill>
                <a:latin typeface="Consolas"/>
                <a:ea typeface="Consolas"/>
              </a:rPr>
              <a:t>assets/p05_ca_manual.png</a:t>
            </a:r>
            <a:endParaRPr lang="ko-KR" sz="900"/>
          </a:p>
        </p:txBody>
      </p:sp>
      <p:sp>
        <p:nvSpPr>
          <p:cNvPr id="29" name="Text 29"/>
          <p:cNvSpPr txBox="1"/>
          <p:nvPr/>
        </p:nvSpPr>
        <p:spPr>
          <a:xfrm>
            <a:off x="2204293" y="2623840"/>
            <a:ext cx="208731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863" b="0" i="0">
                <a:solidFill>
                  <a:srgbClr val="A0AEC0"/>
                </a:solidFill>
                <a:latin typeface="Noto Sans KR"/>
                <a:ea typeface="Noto Sans KR"/>
              </a:rPr>
              <a:t>인증센터 홈페이지에서 인증서·서비스 정보를</a:t>
            </a:r>
            <a:endParaRPr lang="ko-KR" sz="863"/>
          </a:p>
        </p:txBody>
      </p:sp>
      <p:sp>
        <p:nvSpPr>
          <p:cNvPr id="30" name="Text 30"/>
          <p:cNvSpPr txBox="1"/>
          <p:nvPr/>
        </p:nvSpPr>
        <p:spPr>
          <a:xfrm>
            <a:off x="2754213" y="2831902"/>
            <a:ext cx="9874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863" b="0" i="0">
                <a:solidFill>
                  <a:srgbClr val="A0AEC0"/>
                </a:solidFill>
                <a:latin typeface="Noto Sans KR"/>
                <a:ea typeface="Noto Sans KR"/>
              </a:rPr>
              <a:t>사람이 조회하는 화면</a:t>
            </a:r>
            <a:endParaRPr lang="ko-KR" sz="863"/>
          </a:p>
        </p:txBody>
      </p:sp>
      <p:sp>
        <p:nvSpPr>
          <p:cNvPr id="31" name="Text 31"/>
          <p:cNvSpPr txBox="1"/>
          <p:nvPr/>
        </p:nvSpPr>
        <p:spPr>
          <a:xfrm>
            <a:off x="6172200" y="1352550"/>
            <a:ext cx="161106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5B9BD5"/>
                </a:solidFill>
                <a:latin typeface="Noto Sans KR"/>
                <a:ea typeface="Noto Sans KR"/>
              </a:rPr>
              <a:t>적용 후 — 웨일 · KISA 연결 구조 </a:t>
            </a:r>
            <a:endParaRPr lang="ko-KR" sz="863"/>
          </a:p>
        </p:txBody>
      </p:sp>
      <p:sp>
        <p:nvSpPr>
          <p:cNvPr id="32" name="Text 32"/>
          <p:cNvSpPr txBox="1"/>
          <p:nvPr/>
        </p:nvSpPr>
        <p:spPr>
          <a:xfrm>
            <a:off x="7963793" y="1371600"/>
            <a:ext cx="5403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675" b="1" i="0">
                <a:solidFill>
                  <a:srgbClr val="1A4A7A"/>
                </a:solidFill>
                <a:latin typeface="Noto Sans KR"/>
                <a:ea typeface="Noto Sans KR"/>
              </a:rPr>
              <a:t>신뢰목록 적용</a:t>
            </a:r>
            <a:endParaRPr lang="ko-KR" sz="675"/>
          </a:p>
        </p:txBody>
      </p:sp>
      <p:sp>
        <p:nvSpPr>
          <p:cNvPr id="33" name="Text 33"/>
          <p:cNvSpPr txBox="1"/>
          <p:nvPr/>
        </p:nvSpPr>
        <p:spPr>
          <a:xfrm>
            <a:off x="6792962" y="2057400"/>
            <a:ext cx="301526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975" b="1" i="0">
                <a:solidFill>
                  <a:srgbClr val="1A1A2E"/>
                </a:solidFill>
                <a:latin typeface="Noto Sans KR"/>
                <a:ea typeface="Noto Sans KR"/>
              </a:rPr>
              <a:t>KISA</a:t>
            </a:r>
            <a:endParaRPr lang="ko-KR" sz="975"/>
          </a:p>
        </p:txBody>
      </p:sp>
      <p:sp>
        <p:nvSpPr>
          <p:cNvPr id="34" name="Text 34"/>
          <p:cNvSpPr txBox="1"/>
          <p:nvPr/>
        </p:nvSpPr>
        <p:spPr>
          <a:xfrm>
            <a:off x="8608219" y="2119313"/>
            <a:ext cx="7094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788" b="1" i="0">
                <a:solidFill>
                  <a:srgbClr val="5B9BD5"/>
                </a:solidFill>
                <a:latin typeface="Noto Sans KR"/>
                <a:ea typeface="Noto Sans KR"/>
              </a:rPr>
              <a:t>KR-TL 내려받기</a:t>
            </a:r>
            <a:endParaRPr lang="ko-KR" sz="788"/>
          </a:p>
        </p:txBody>
      </p:sp>
      <p:sp>
        <p:nvSpPr>
          <p:cNvPr id="35" name="Text 35"/>
          <p:cNvSpPr txBox="1"/>
          <p:nvPr/>
        </p:nvSpPr>
        <p:spPr>
          <a:xfrm>
            <a:off x="10613678" y="2057400"/>
            <a:ext cx="73729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975" b="1" i="0">
                <a:solidFill>
                  <a:srgbClr val="1A4A7A"/>
                </a:solidFill>
                <a:latin typeface="Noto Sans KR"/>
                <a:ea typeface="Noto Sans KR"/>
              </a:rPr>
              <a:t>웨일 브라우저</a:t>
            </a:r>
            <a:endParaRPr lang="ko-KR" sz="975"/>
          </a:p>
        </p:txBody>
      </p:sp>
      <p:sp>
        <p:nvSpPr>
          <p:cNvPr id="36" name="Text 36"/>
          <p:cNvSpPr txBox="1"/>
          <p:nvPr/>
        </p:nvSpPr>
        <p:spPr>
          <a:xfrm>
            <a:off x="8896350" y="2676525"/>
            <a:ext cx="1333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900" b="0" i="0">
                <a:solidFill>
                  <a:srgbClr val="CBD5E0"/>
                </a:solidFill>
                <a:latin typeface="Noto Sans KR"/>
                <a:ea typeface="Noto Sans KR"/>
              </a:rPr>
              <a:t>▼</a:t>
            </a:r>
            <a:endParaRPr lang="ko-KR" sz="900"/>
          </a:p>
        </p:txBody>
      </p:sp>
      <p:sp>
        <p:nvSpPr>
          <p:cNvPr id="37" name="Text 37"/>
          <p:cNvSpPr txBox="1"/>
          <p:nvPr/>
        </p:nvSpPr>
        <p:spPr>
          <a:xfrm>
            <a:off x="8403431" y="2924175"/>
            <a:ext cx="45288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검증 엔진</a:t>
            </a:r>
            <a:endParaRPr lang="ko-KR" sz="863"/>
          </a:p>
        </p:txBody>
      </p:sp>
      <p:sp>
        <p:nvSpPr>
          <p:cNvPr id="38" name="Text 38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40" name="Text 40"/>
          <p:cNvSpPr txBox="1"/>
          <p:nvPr/>
        </p:nvSpPr>
        <p:spPr>
          <a:xfrm>
            <a:off x="6513165" y="2257425"/>
            <a:ext cx="86112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750" b="0" i="0">
                <a:solidFill>
                  <a:srgbClr val="718096"/>
                </a:solidFill>
                <a:latin typeface="Noto Sans KR"/>
                <a:ea typeface="Noto Sans KR"/>
              </a:rPr>
              <a:t>인정사업자 정보 수집</a:t>
            </a:r>
            <a:endParaRPr lang="ko-KR" sz="750"/>
          </a:p>
        </p:txBody>
      </p:sp>
      <p:sp>
        <p:nvSpPr>
          <p:cNvPr id="41" name="Text 41"/>
          <p:cNvSpPr txBox="1"/>
          <p:nvPr/>
        </p:nvSpPr>
        <p:spPr>
          <a:xfrm>
            <a:off x="6562874" y="2390775"/>
            <a:ext cx="7617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750" b="0" i="0">
                <a:solidFill>
                  <a:srgbClr val="718096"/>
                </a:solidFill>
                <a:latin typeface="Noto Sans KR"/>
                <a:ea typeface="Noto Sans KR"/>
              </a:rPr>
              <a:t>KR-TL 발행 · 서명</a:t>
            </a:r>
            <a:endParaRPr lang="ko-KR" sz="750"/>
          </a:p>
        </p:txBody>
      </p:sp>
      <p:sp>
        <p:nvSpPr>
          <p:cNvPr id="42" name="Text 42"/>
          <p:cNvSpPr txBox="1"/>
          <p:nvPr/>
        </p:nvSpPr>
        <p:spPr>
          <a:xfrm>
            <a:off x="10645825" y="2257425"/>
            <a:ext cx="6730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750" b="0" i="0">
                <a:solidFill>
                  <a:srgbClr val="718096"/>
                </a:solidFill>
                <a:latin typeface="Noto Sans KR"/>
                <a:ea typeface="Noto Sans KR"/>
              </a:rPr>
              <a:t>목록 검증 · 적용</a:t>
            </a:r>
            <a:endParaRPr lang="ko-KR" sz="750"/>
          </a:p>
        </p:txBody>
      </p:sp>
      <p:sp>
        <p:nvSpPr>
          <p:cNvPr id="43" name="Text 43"/>
          <p:cNvSpPr txBox="1"/>
          <p:nvPr/>
        </p:nvSpPr>
        <p:spPr>
          <a:xfrm>
            <a:off x="10601920" y="2390775"/>
            <a:ext cx="76066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750" b="0" i="0">
                <a:solidFill>
                  <a:srgbClr val="718096"/>
                </a:solidFill>
                <a:latin typeface="Noto Sans KR"/>
                <a:ea typeface="Noto Sans KR"/>
              </a:rPr>
              <a:t>동기화 · 캐시 관리</a:t>
            </a:r>
            <a:endParaRPr lang="ko-KR" sz="750"/>
          </a:p>
        </p:txBody>
      </p:sp>
      <p:sp>
        <p:nvSpPr>
          <p:cNvPr id="44" name="Text 44"/>
          <p:cNvSpPr txBox="1"/>
          <p:nvPr/>
        </p:nvSpPr>
        <p:spPr>
          <a:xfrm>
            <a:off x="7838182" y="2924175"/>
            <a:ext cx="58429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863" b="0" i="0">
                <a:solidFill>
                  <a:srgbClr val="2D3748"/>
                </a:solidFill>
                <a:latin typeface="Noto Sans KR"/>
                <a:ea typeface="Noto Sans KR"/>
              </a:rPr>
              <a:t>문서를 열면 </a:t>
            </a:r>
            <a:endParaRPr lang="ko-KR" sz="863"/>
          </a:p>
        </p:txBody>
      </p:sp>
      <p:sp>
        <p:nvSpPr>
          <p:cNvPr id="45" name="Text 45"/>
          <p:cNvSpPr txBox="1"/>
          <p:nvPr/>
        </p:nvSpPr>
        <p:spPr>
          <a:xfrm>
            <a:off x="8837265" y="2924175"/>
            <a:ext cx="81662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863" b="0" i="0">
                <a:solidFill>
                  <a:srgbClr val="2D3748"/>
                </a:solidFill>
                <a:latin typeface="Noto Sans KR"/>
                <a:ea typeface="Noto Sans KR"/>
              </a:rPr>
              <a:t>이 목록을 조회해 </a:t>
            </a:r>
            <a:endParaRPr lang="ko-KR" sz="863"/>
          </a:p>
        </p:txBody>
      </p:sp>
      <p:sp>
        <p:nvSpPr>
          <p:cNvPr id="46" name="Text 46"/>
          <p:cNvSpPr txBox="1"/>
          <p:nvPr/>
        </p:nvSpPr>
        <p:spPr>
          <a:xfrm>
            <a:off x="9634835" y="2924175"/>
            <a:ext cx="45288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자동 판정</a:t>
            </a:r>
            <a:endParaRPr lang="ko-KR" sz="863"/>
          </a:p>
        </p:txBody>
      </p:sp>
      <p:sp>
        <p:nvSpPr>
          <p:cNvPr id="47" name="Text 47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05 / 13</a:t>
            </a:r>
            <a:endParaRPr lang="ko-KR" sz="788"/>
          </a:p>
        </p:txBody>
      </p:sp>
      <p:sp>
        <p:nvSpPr>
          <p:cNvPr id="48" name="Text 48"/>
          <p:cNvSpPr txBox="1"/>
          <p:nvPr/>
        </p:nvSpPr>
        <p:spPr>
          <a:xfrm>
            <a:off x="457200" y="3590925"/>
            <a:ext cx="23157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 dirty="0">
                <a:solidFill>
                  <a:srgbClr val="A0AEC0"/>
                </a:solidFill>
                <a:latin typeface="Noto Sans KR"/>
                <a:ea typeface="Noto Sans KR"/>
              </a:rPr>
              <a:t>절차</a:t>
            </a:r>
            <a:endParaRPr lang="ko-KR" sz="863" dirty="0"/>
          </a:p>
        </p:txBody>
      </p:sp>
      <p:sp>
        <p:nvSpPr>
          <p:cNvPr id="49" name="Text 49"/>
          <p:cNvSpPr txBox="1"/>
          <p:nvPr/>
        </p:nvSpPr>
        <p:spPr>
          <a:xfrm>
            <a:off x="8495407" y="2347913"/>
            <a:ext cx="93523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sz="675" b="0" i="0">
                <a:solidFill>
                  <a:srgbClr val="A0AEC0"/>
                </a:solidFill>
                <a:latin typeface="Noto Sans KR"/>
                <a:ea typeface="Noto Sans KR"/>
              </a:rPr>
              <a:t>서명된 XML · 주기 동기화</a:t>
            </a:r>
            <a:endParaRPr lang="ko-KR" sz="675"/>
          </a:p>
        </p:txBody>
      </p:sp>
      <p:sp>
        <p:nvSpPr>
          <p:cNvPr id="50" name="Text 50"/>
          <p:cNvSpPr txBox="1"/>
          <p:nvPr/>
        </p:nvSpPr>
        <p:spPr>
          <a:xfrm>
            <a:off x="6172200" y="3590925"/>
            <a:ext cx="23157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 dirty="0">
                <a:solidFill>
                  <a:srgbClr val="6AA4D9"/>
                </a:solidFill>
                <a:latin typeface="Noto Sans KR"/>
                <a:ea typeface="Noto Sans KR"/>
              </a:rPr>
              <a:t>절차</a:t>
            </a:r>
            <a:endParaRPr lang="ko-KR" sz="863" dirty="0">
              <a:solidFill>
                <a:srgbClr val="6AA4D9"/>
              </a:solidFill>
            </a:endParaRPr>
          </a:p>
        </p:txBody>
      </p:sp>
      <p:sp>
        <p:nvSpPr>
          <p:cNvPr id="51" name="Text 51"/>
          <p:cNvSpPr txBox="1"/>
          <p:nvPr/>
        </p:nvSpPr>
        <p:spPr>
          <a:xfrm>
            <a:off x="628650" y="6122194"/>
            <a:ext cx="4061371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사람이 확인하면 같은 결과가 다시 나온다는 보장이 없고 근거도 남지 않는다.</a:t>
            </a:r>
            <a:endParaRPr lang="ko-KR" sz="101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858D9E18-9602-48D3-1532-AC6887B57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8A842B2A-8D6F-96FC-748B-7F6608CBB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176736"/>
              </p:ext>
            </p:extLst>
          </p:nvPr>
        </p:nvGraphicFramePr>
        <p:xfrm>
          <a:off x="542925" y="1609218"/>
          <a:ext cx="5476875" cy="2883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75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288301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216338B4-8C0E-8EF8-723E-4B623A960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739475"/>
              </p:ext>
            </p:extLst>
          </p:nvPr>
        </p:nvGraphicFramePr>
        <p:xfrm>
          <a:off x="790575" y="2385161"/>
          <a:ext cx="5229225" cy="2103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9225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210349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ED0496DD-C564-5A71-9969-1A9E5C261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758222"/>
              </p:ext>
            </p:extLst>
          </p:nvPr>
        </p:nvGraphicFramePr>
        <p:xfrm>
          <a:off x="1014637" y="2944930"/>
          <a:ext cx="5038947" cy="1540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947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15406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C83784A6-D35E-83B3-60F5-879863C3B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59035"/>
              </p:ext>
            </p:extLst>
          </p:nvPr>
        </p:nvGraphicFramePr>
        <p:xfrm>
          <a:off x="1209675" y="3962507"/>
          <a:ext cx="4810125" cy="223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0125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223647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33EC7D0E-79B9-E16E-B1D9-4DFF1A12E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170280"/>
              </p:ext>
            </p:extLst>
          </p:nvPr>
        </p:nvGraphicFramePr>
        <p:xfrm>
          <a:off x="1209675" y="3701653"/>
          <a:ext cx="4810125" cy="223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0125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223647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ED2FBFD2-EC5C-3EA3-E252-CAF148DC2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85145"/>
              </p:ext>
            </p:extLst>
          </p:nvPr>
        </p:nvGraphicFramePr>
        <p:xfrm>
          <a:off x="1209675" y="3430307"/>
          <a:ext cx="4810125" cy="223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0125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223647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10" name="Box 10"/>
          <p:cNvSpPr/>
          <p:nvPr/>
        </p:nvSpPr>
        <p:spPr>
          <a:xfrm>
            <a:off x="6172200" y="1590675"/>
            <a:ext cx="5562600" cy="1144191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11" name="Box 11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12" name="Box 12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sp>
        <p:nvSpPr>
          <p:cNvPr id="13" name="List 13"/>
          <p:cNvSpPr txBox="1"/>
          <p:nvPr/>
        </p:nvSpPr>
        <p:spPr>
          <a:xfrm>
            <a:off x="6315075" y="1714500"/>
            <a:ext cx="5276850" cy="298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171450" indent="-114300">
              <a:buClr>
                <a:srgbClr val="5B9BD5"/>
              </a:buClr>
              <a:buSzPct val="70000"/>
              <a:buChar char="▪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신뢰앵커로 쓰는 것은 Service의 </a:t>
            </a:r>
            <a:r>
              <a:rPr lang="ko-KR" sz="938" b="1" i="0">
                <a:solidFill>
                  <a:srgbClr val="2D3748"/>
                </a:solidFill>
                <a:latin typeface="Noto Sans KR"/>
                <a:ea typeface="Noto Sans KR"/>
              </a:rPr>
              <a:t>Digital Identity</a:t>
            </a: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다.</a:t>
            </a:r>
            <a:endParaRPr lang="ko-KR" sz="938"/>
          </a:p>
        </p:txBody>
      </p:sp>
      <p:sp>
        <p:nvSpPr>
          <p:cNvPr id="14" name="List 14"/>
          <p:cNvSpPr txBox="1"/>
          <p:nvPr/>
        </p:nvSpPr>
        <p:spPr>
          <a:xfrm>
            <a:off x="6315075" y="2013347"/>
            <a:ext cx="5276850" cy="298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171450" indent="-114300">
              <a:buClr>
                <a:srgbClr val="5B9BD5"/>
              </a:buClr>
              <a:buSzPct val="70000"/>
              <a:buChar char="▪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판정에 쓰는 것은 상태값 하나가 아니라 </a:t>
            </a:r>
            <a:r>
              <a:rPr lang="ko-KR" sz="938" b="1" i="0">
                <a:solidFill>
                  <a:srgbClr val="2D3748"/>
                </a:solidFill>
                <a:latin typeface="Noto Sans KR"/>
                <a:ea typeface="Noto Sans KR"/>
              </a:rPr>
              <a:t>상태값과 개시시각의 쌍</a:t>
            </a: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이다.</a:t>
            </a:r>
            <a:endParaRPr lang="ko-KR" sz="938"/>
          </a:p>
        </p:txBody>
      </p:sp>
      <p:sp>
        <p:nvSpPr>
          <p:cNvPr id="15" name="List 15"/>
          <p:cNvSpPr txBox="1"/>
          <p:nvPr/>
        </p:nvSpPr>
        <p:spPr>
          <a:xfrm>
            <a:off x="6315075" y="2312194"/>
            <a:ext cx="5276850" cy="298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171450" indent="-114300">
              <a:buClr>
                <a:srgbClr val="5B9BD5"/>
              </a:buClr>
              <a:buSzPct val="70000"/>
              <a:buChar char="▪"/>
            </a:pP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같은 사업자라도 서비스별로 상태가 다를 수 있으므로 </a:t>
            </a:r>
            <a:r>
              <a:rPr lang="ko-KR" sz="938" b="1" i="0">
                <a:solidFill>
                  <a:srgbClr val="2D3748"/>
                </a:solidFill>
                <a:latin typeface="Noto Sans KR"/>
                <a:ea typeface="Noto Sans KR"/>
              </a:rPr>
              <a:t>서비스 단위</a:t>
            </a:r>
            <a:r>
              <a:rPr lang="ko-KR" sz="938" b="0" i="0">
                <a:solidFill>
                  <a:srgbClr val="2D3748"/>
                </a:solidFill>
                <a:latin typeface="Noto Sans KR"/>
                <a:ea typeface="Noto Sans KR"/>
              </a:rPr>
              <a:t>로 조회한다.</a:t>
            </a:r>
            <a:endParaRPr lang="ko-KR" sz="938"/>
          </a:p>
        </p:txBody>
      </p:sp>
      <p:sp>
        <p:nvSpPr>
          <p:cNvPr id="16" name="Text 16"/>
          <p:cNvSpPr txBox="1"/>
          <p:nvPr/>
        </p:nvSpPr>
        <p:spPr>
          <a:xfrm>
            <a:off x="457200" y="133350"/>
            <a:ext cx="11976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KR-TL 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데이터 </a:t>
            </a:r>
            <a:r>
              <a:rPr 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구조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와 검증정보</a:t>
            </a:r>
            <a:endParaRPr lang="ko-KR" sz="1575" dirty="0"/>
          </a:p>
        </p:txBody>
      </p:sp>
      <p:sp>
        <p:nvSpPr>
          <p:cNvPr id="17" name="Text 17"/>
          <p:cNvSpPr txBox="1"/>
          <p:nvPr/>
        </p:nvSpPr>
        <p:spPr>
          <a:xfrm>
            <a:off x="457200" y="741759"/>
            <a:ext cx="5596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>
                <a:solidFill>
                  <a:srgbClr val="1A1A2E"/>
                </a:solidFill>
                <a:latin typeface="Noto Sans KR"/>
                <a:ea typeface="Noto Sans KR"/>
              </a:rPr>
              <a:t>KR-TL은 ETSI TS 119 612 구조를 따르고, 스킴에서 서비스 상태까지 네 단으로 내려간다.</a:t>
            </a:r>
            <a:endParaRPr lang="ko-KR" sz="1163"/>
          </a:p>
        </p:txBody>
      </p:sp>
      <p:sp>
        <p:nvSpPr>
          <p:cNvPr id="18" name="Text 18"/>
          <p:cNvSpPr txBox="1"/>
          <p:nvPr/>
        </p:nvSpPr>
        <p:spPr>
          <a:xfrm>
            <a:off x="457200" y="1390650"/>
            <a:ext cx="51881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38" b="1" i="0" dirty="0" err="1">
                <a:solidFill>
                  <a:srgbClr val="1A1A2E"/>
                </a:solidFill>
                <a:latin typeface="Noto Sans KR"/>
                <a:ea typeface="Noto Sans KR"/>
              </a:rPr>
              <a:t>Scheme</a:t>
            </a:r>
            <a:r>
              <a:rPr lang="ko-KR" sz="938" b="1" i="0" dirty="0">
                <a:solidFill>
                  <a:srgbClr val="1A1A2E"/>
                </a:solidFill>
                <a:latin typeface="Noto Sans KR"/>
                <a:ea typeface="Noto Sans KR"/>
              </a:rPr>
              <a:t> </a:t>
            </a:r>
            <a:endParaRPr lang="ko-KR" sz="938" dirty="0"/>
          </a:p>
        </p:txBody>
      </p:sp>
      <p:sp>
        <p:nvSpPr>
          <p:cNvPr id="19" name="Text 19"/>
          <p:cNvSpPr txBox="1"/>
          <p:nvPr/>
        </p:nvSpPr>
        <p:spPr>
          <a:xfrm>
            <a:off x="1014115" y="1419225"/>
            <a:ext cx="4152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30" b="0" i="0" dirty="0" err="1">
                <a:solidFill>
                  <a:srgbClr val="A0AEC0"/>
                </a:solidFill>
                <a:latin typeface="Noto Sans KR"/>
                <a:ea typeface="Noto Sans KR"/>
              </a:rPr>
              <a:t>스킴</a:t>
            </a:r>
            <a:r>
              <a:rPr lang="ko-KR" sz="830" b="0" i="0" dirty="0">
                <a:solidFill>
                  <a:srgbClr val="A0AEC0"/>
                </a:solidFill>
                <a:latin typeface="Noto Sans KR"/>
                <a:ea typeface="Noto Sans KR"/>
              </a:rPr>
              <a:t> 정보</a:t>
            </a:r>
            <a:endParaRPr lang="ko-KR" sz="830" dirty="0"/>
          </a:p>
        </p:txBody>
      </p:sp>
      <p:sp>
        <p:nvSpPr>
          <p:cNvPr id="20" name="Text 20"/>
          <p:cNvSpPr txBox="1"/>
          <p:nvPr/>
        </p:nvSpPr>
        <p:spPr>
          <a:xfrm>
            <a:off x="704850" y="1643063"/>
            <a:ext cx="240506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 dirty="0">
                <a:solidFill>
                  <a:srgbClr val="718096"/>
                </a:solidFill>
                <a:latin typeface="Noto Sans KR"/>
                <a:ea typeface="Noto Sans KR"/>
              </a:rPr>
              <a:t>운영 주체 · </a:t>
            </a:r>
            <a:r>
              <a:rPr lang="ko-KR" sz="800" b="0" i="0" dirty="0" err="1">
                <a:solidFill>
                  <a:srgbClr val="718096"/>
                </a:solidFill>
                <a:latin typeface="Noto Sans KR"/>
                <a:ea typeface="Noto Sans KR"/>
              </a:rPr>
              <a:t>스킴</a:t>
            </a:r>
            <a:r>
              <a:rPr lang="ko-KR" sz="800" b="0" i="0" dirty="0">
                <a:solidFill>
                  <a:srgbClr val="718096"/>
                </a:solidFill>
                <a:latin typeface="Noto Sans KR"/>
                <a:ea typeface="Noto Sans KR"/>
              </a:rPr>
              <a:t> 유형 · 적용 국가 · 목록 일련번호</a:t>
            </a:r>
            <a:endParaRPr lang="ko-KR" sz="800" dirty="0"/>
          </a:p>
        </p:txBody>
      </p:sp>
      <p:sp>
        <p:nvSpPr>
          <p:cNvPr id="21" name="Text 21"/>
          <p:cNvSpPr txBox="1"/>
          <p:nvPr/>
        </p:nvSpPr>
        <p:spPr>
          <a:xfrm>
            <a:off x="1018729" y="2197894"/>
            <a:ext cx="8472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30" b="0" i="0" dirty="0">
                <a:solidFill>
                  <a:srgbClr val="A0AEC0"/>
                </a:solidFill>
                <a:latin typeface="Noto Sans KR"/>
                <a:ea typeface="Noto Sans KR"/>
              </a:rPr>
              <a:t>전자서명인증사업자</a:t>
            </a:r>
            <a:endParaRPr lang="ko-KR" sz="830" dirty="0"/>
          </a:p>
        </p:txBody>
      </p:sp>
      <p:sp>
        <p:nvSpPr>
          <p:cNvPr id="22" name="Text 22"/>
          <p:cNvSpPr txBox="1"/>
          <p:nvPr/>
        </p:nvSpPr>
        <p:spPr>
          <a:xfrm>
            <a:off x="952500" y="2421731"/>
            <a:ext cx="1661666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 dirty="0">
                <a:solidFill>
                  <a:srgbClr val="718096"/>
                </a:solidFill>
                <a:latin typeface="Noto Sans KR"/>
                <a:ea typeface="Noto Sans KR"/>
              </a:rPr>
              <a:t>사업자명 · 사업자 식별자 · 소재지</a:t>
            </a:r>
            <a:endParaRPr lang="ko-KR" sz="800" dirty="0"/>
          </a:p>
        </p:txBody>
      </p:sp>
      <p:sp>
        <p:nvSpPr>
          <p:cNvPr id="23" name="Text 23"/>
          <p:cNvSpPr txBox="1"/>
          <p:nvPr/>
        </p:nvSpPr>
        <p:spPr>
          <a:xfrm>
            <a:off x="1472059" y="2742009"/>
            <a:ext cx="2951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30" b="0" i="0">
                <a:solidFill>
                  <a:srgbClr val="A0AEC0"/>
                </a:solidFill>
                <a:latin typeface="Noto Sans KR"/>
                <a:ea typeface="Noto Sans KR"/>
              </a:rPr>
              <a:t>서비스</a:t>
            </a:r>
            <a:endParaRPr lang="ko-KR" sz="830"/>
          </a:p>
        </p:txBody>
      </p:sp>
      <p:sp>
        <p:nvSpPr>
          <p:cNvPr id="24" name="Text 24"/>
          <p:cNvSpPr txBox="1"/>
          <p:nvPr/>
        </p:nvSpPr>
        <p:spPr>
          <a:xfrm>
            <a:off x="1200150" y="2965847"/>
            <a:ext cx="608856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>
                <a:solidFill>
                  <a:srgbClr val="718096"/>
                </a:solidFill>
                <a:latin typeface="Noto Sans KR"/>
                <a:ea typeface="Noto Sans KR"/>
              </a:rPr>
              <a:t>서비스 유형 </a:t>
            </a:r>
            <a:endParaRPr lang="ko-KR" sz="800"/>
          </a:p>
        </p:txBody>
      </p:sp>
      <p:sp>
        <p:nvSpPr>
          <p:cNvPr id="25" name="Text 25"/>
          <p:cNvSpPr txBox="1"/>
          <p:nvPr/>
        </p:nvSpPr>
        <p:spPr>
          <a:xfrm>
            <a:off x="1866156" y="2965847"/>
            <a:ext cx="1530846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 dirty="0">
                <a:solidFill>
                  <a:srgbClr val="A0AEC0"/>
                </a:solidFill>
                <a:latin typeface="Noto Sans KR"/>
                <a:ea typeface="Noto Sans KR"/>
              </a:rPr>
              <a:t>인증서 발급 / 타임스탬프 / 검증</a:t>
            </a:r>
            <a:endParaRPr lang="ko-KR" sz="800" dirty="0"/>
          </a:p>
        </p:txBody>
      </p:sp>
      <p:sp>
        <p:nvSpPr>
          <p:cNvPr id="26" name="Text 26"/>
          <p:cNvSpPr txBox="1"/>
          <p:nvPr/>
        </p:nvSpPr>
        <p:spPr>
          <a:xfrm>
            <a:off x="2269927" y="3463528"/>
            <a:ext cx="1390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 dirty="0">
                <a:solidFill>
                  <a:srgbClr val="5B9BD5"/>
                </a:solidFill>
                <a:latin typeface="Noto Sans KR"/>
                <a:ea typeface="Noto Sans KR"/>
              </a:rPr>
              <a:t>서비스 인증서 · 공개키 · SKI</a:t>
            </a:r>
            <a:endParaRPr lang="ko-KR" sz="800" dirty="0"/>
          </a:p>
        </p:txBody>
      </p:sp>
      <p:sp>
        <p:nvSpPr>
          <p:cNvPr id="27" name="Text 27"/>
          <p:cNvSpPr txBox="1"/>
          <p:nvPr/>
        </p:nvSpPr>
        <p:spPr>
          <a:xfrm>
            <a:off x="2269927" y="4008834"/>
            <a:ext cx="1166664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 dirty="0">
                <a:solidFill>
                  <a:srgbClr val="5B9BD5"/>
                </a:solidFill>
                <a:latin typeface="Noto Sans KR"/>
                <a:ea typeface="Noto Sans KR"/>
              </a:rPr>
              <a:t>과거 상태와 각 개시시각</a:t>
            </a:r>
            <a:endParaRPr lang="ko-KR" sz="800" dirty="0"/>
          </a:p>
        </p:txBody>
      </p:sp>
      <p:sp>
        <p:nvSpPr>
          <p:cNvPr id="28" name="Text 28"/>
          <p:cNvSpPr txBox="1"/>
          <p:nvPr/>
        </p:nvSpPr>
        <p:spPr>
          <a:xfrm>
            <a:off x="1866008" y="4271963"/>
            <a:ext cx="1343918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 dirty="0">
                <a:solidFill>
                  <a:srgbClr val="A0AEC0"/>
                </a:solidFill>
                <a:latin typeface="Noto Sans KR"/>
                <a:ea typeface="Noto Sans KR"/>
              </a:rPr>
              <a:t>정책 OID · OCSP/CRL 주소</a:t>
            </a:r>
            <a:endParaRPr lang="ko-KR" sz="800" dirty="0"/>
          </a:p>
        </p:txBody>
      </p:sp>
      <p:sp>
        <p:nvSpPr>
          <p:cNvPr id="29" name="Text 29"/>
          <p:cNvSpPr txBox="1"/>
          <p:nvPr/>
        </p:nvSpPr>
        <p:spPr>
          <a:xfrm>
            <a:off x="6172200" y="1352550"/>
            <a:ext cx="119003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5B9BD5"/>
                </a:solidFill>
                <a:latin typeface="Noto Sans KR"/>
                <a:ea typeface="Noto Sans KR"/>
              </a:rPr>
              <a:t>검증에서 실제로 쓰는 것</a:t>
            </a:r>
            <a:endParaRPr lang="ko-KR" sz="863"/>
          </a:p>
        </p:txBody>
      </p:sp>
      <p:sp>
        <p:nvSpPr>
          <p:cNvPr id="30" name="Text 30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32" name="Text 32"/>
          <p:cNvSpPr txBox="1"/>
          <p:nvPr/>
        </p:nvSpPr>
        <p:spPr>
          <a:xfrm>
            <a:off x="704850" y="1877616"/>
            <a:ext cx="1466701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 dirty="0">
                <a:solidFill>
                  <a:srgbClr val="718096"/>
                </a:solidFill>
                <a:latin typeface="Noto Sans KR"/>
                <a:ea typeface="Noto Sans KR"/>
              </a:rPr>
              <a:t>발행시각 · 다음 갱신 예정시각</a:t>
            </a:r>
            <a:endParaRPr lang="ko-KR" sz="800" dirty="0"/>
          </a:p>
        </p:txBody>
      </p:sp>
      <p:sp>
        <p:nvSpPr>
          <p:cNvPr id="33" name="Text 33"/>
          <p:cNvSpPr txBox="1"/>
          <p:nvPr/>
        </p:nvSpPr>
        <p:spPr>
          <a:xfrm>
            <a:off x="952500" y="2713434"/>
            <a:ext cx="481459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38" b="1" i="0">
                <a:solidFill>
                  <a:srgbClr val="1A1A2E"/>
                </a:solidFill>
                <a:latin typeface="Noto Sans KR"/>
                <a:ea typeface="Noto Sans KR"/>
              </a:rPr>
              <a:t>Service </a:t>
            </a:r>
            <a:endParaRPr lang="ko-KR" sz="938"/>
          </a:p>
        </p:txBody>
      </p:sp>
      <p:sp>
        <p:nvSpPr>
          <p:cNvPr id="34" name="Text 34"/>
          <p:cNvSpPr txBox="1"/>
          <p:nvPr/>
        </p:nvSpPr>
        <p:spPr>
          <a:xfrm>
            <a:off x="1200150" y="3200400"/>
            <a:ext cx="576858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>
                <a:solidFill>
                  <a:srgbClr val="718096"/>
                </a:solidFill>
                <a:latin typeface="Noto Sans KR"/>
                <a:ea typeface="Noto Sans KR"/>
              </a:rPr>
              <a:t>서비스 명칭</a:t>
            </a:r>
            <a:endParaRPr lang="ko-KR" sz="800"/>
          </a:p>
        </p:txBody>
      </p:sp>
      <p:sp>
        <p:nvSpPr>
          <p:cNvPr id="35" name="Text 35"/>
          <p:cNvSpPr txBox="1"/>
          <p:nvPr/>
        </p:nvSpPr>
        <p:spPr>
          <a:xfrm>
            <a:off x="628650" y="6122194"/>
            <a:ext cx="4067324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검증에 쓰는 것은 서비스 인증서와 상태값, 그리고 그 상태가 언제부터인지다.</a:t>
            </a:r>
            <a:endParaRPr lang="ko-KR" sz="1013"/>
          </a:p>
        </p:txBody>
      </p:sp>
      <p:sp>
        <p:nvSpPr>
          <p:cNvPr id="36" name="Text 36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06 / 13</a:t>
            </a:r>
            <a:endParaRPr lang="ko-KR" sz="788"/>
          </a:p>
        </p:txBody>
      </p:sp>
      <p:sp>
        <p:nvSpPr>
          <p:cNvPr id="37" name="Text 37"/>
          <p:cNvSpPr txBox="1"/>
          <p:nvPr/>
        </p:nvSpPr>
        <p:spPr>
          <a:xfrm>
            <a:off x="704850" y="2169319"/>
            <a:ext cx="275779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38" b="1" i="0">
                <a:solidFill>
                  <a:srgbClr val="1A1A2E"/>
                </a:solidFill>
                <a:latin typeface="Noto Sans KR"/>
                <a:ea typeface="Noto Sans KR"/>
              </a:rPr>
              <a:t>TSP </a:t>
            </a:r>
            <a:endParaRPr lang="ko-KR" sz="938"/>
          </a:p>
        </p:txBody>
      </p:sp>
      <p:sp>
        <p:nvSpPr>
          <p:cNvPr id="38" name="Text 38"/>
          <p:cNvSpPr txBox="1"/>
          <p:nvPr/>
        </p:nvSpPr>
        <p:spPr>
          <a:xfrm>
            <a:off x="1314450" y="3463528"/>
            <a:ext cx="898327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1" i="0" dirty="0">
                <a:solidFill>
                  <a:srgbClr val="1A4A7A"/>
                </a:solidFill>
                <a:latin typeface="Noto Sans KR"/>
                <a:ea typeface="Noto Sans KR"/>
              </a:rPr>
              <a:t>Digital </a:t>
            </a:r>
            <a:r>
              <a:rPr lang="ko-KR" sz="800" b="1" i="0" dirty="0" err="1">
                <a:solidFill>
                  <a:srgbClr val="1A4A7A"/>
                </a:solidFill>
                <a:latin typeface="Noto Sans KR"/>
                <a:ea typeface="Noto Sans KR"/>
              </a:rPr>
              <a:t>Identity</a:t>
            </a:r>
            <a:r>
              <a:rPr lang="ko-KR" sz="800" b="1" i="0" dirty="0">
                <a:solidFill>
                  <a:srgbClr val="1A4A7A"/>
                </a:solidFill>
                <a:latin typeface="Noto Sans KR"/>
                <a:ea typeface="Noto Sans KR"/>
              </a:rPr>
              <a:t> </a:t>
            </a:r>
            <a:endParaRPr lang="ko-KR" sz="800" dirty="0"/>
          </a:p>
        </p:txBody>
      </p:sp>
      <p:sp>
        <p:nvSpPr>
          <p:cNvPr id="39" name="Text 39"/>
          <p:cNvSpPr txBox="1"/>
          <p:nvPr/>
        </p:nvSpPr>
        <p:spPr>
          <a:xfrm>
            <a:off x="6172200" y="2820591"/>
            <a:ext cx="259645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강조한 세 항목 외 나머지 필드는 배포자료 부록에서 다룬다.</a:t>
            </a:r>
            <a:endParaRPr lang="ko-KR" sz="825"/>
          </a:p>
        </p:txBody>
      </p:sp>
      <p:sp>
        <p:nvSpPr>
          <p:cNvPr id="40" name="Text 40"/>
          <p:cNvSpPr txBox="1"/>
          <p:nvPr/>
        </p:nvSpPr>
        <p:spPr>
          <a:xfrm>
            <a:off x="1314450" y="3736181"/>
            <a:ext cx="1266081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1" i="0">
                <a:solidFill>
                  <a:srgbClr val="1A4A7A"/>
                </a:solidFill>
                <a:latin typeface="Noto Sans KR"/>
                <a:ea typeface="Noto Sans KR"/>
              </a:rPr>
              <a:t>현재 상태 + 상태 개시시각</a:t>
            </a:r>
            <a:endParaRPr lang="ko-KR" sz="800"/>
          </a:p>
        </p:txBody>
      </p:sp>
      <p:sp>
        <p:nvSpPr>
          <p:cNvPr id="41" name="Text 41"/>
          <p:cNvSpPr txBox="1"/>
          <p:nvPr/>
        </p:nvSpPr>
        <p:spPr>
          <a:xfrm>
            <a:off x="1314450" y="4008834"/>
            <a:ext cx="50378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1" i="0">
                <a:solidFill>
                  <a:srgbClr val="1A4A7A"/>
                </a:solidFill>
                <a:latin typeface="Noto Sans KR"/>
                <a:ea typeface="Noto Sans KR"/>
              </a:rPr>
              <a:t>상태 이력 </a:t>
            </a:r>
            <a:endParaRPr lang="ko-KR" sz="800"/>
          </a:p>
        </p:txBody>
      </p:sp>
      <p:sp>
        <p:nvSpPr>
          <p:cNvPr id="42" name="Text 42"/>
          <p:cNvSpPr txBox="1"/>
          <p:nvPr/>
        </p:nvSpPr>
        <p:spPr>
          <a:xfrm>
            <a:off x="1200150" y="4271963"/>
            <a:ext cx="50378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00" b="0" i="0" dirty="0">
                <a:solidFill>
                  <a:srgbClr val="718096"/>
                </a:solidFill>
                <a:latin typeface="Noto Sans KR"/>
                <a:ea typeface="Noto Sans KR"/>
              </a:rPr>
              <a:t>부가 정보 </a:t>
            </a:r>
            <a:endParaRPr lang="ko-KR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89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33172-B00C-4803-DDE8-B665F61A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0DFD875E-C544-83FF-D39D-10CBA4618DAF}"/>
              </a:ext>
            </a:extLst>
          </p:cNvPr>
          <p:cNvSpPr txBox="1"/>
          <p:nvPr/>
        </p:nvSpPr>
        <p:spPr>
          <a:xfrm>
            <a:off x="914400" y="2697956"/>
            <a:ext cx="1535013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4200" b="1" i="0" dirty="0">
                <a:solidFill>
                  <a:srgbClr val="EBF4FF"/>
                </a:solidFill>
                <a:latin typeface="Noto Sans KR"/>
                <a:ea typeface="Noto Sans KR"/>
              </a:rPr>
              <a:t>2. </a:t>
            </a:r>
            <a:r>
              <a:rPr lang="ko-KR" altLang="en-US" sz="4200" b="1" i="0" dirty="0">
                <a:solidFill>
                  <a:srgbClr val="EBF4FF"/>
                </a:solidFill>
                <a:latin typeface="Noto Sans KR"/>
                <a:ea typeface="Noto Sans KR"/>
              </a:rPr>
              <a:t>기능</a:t>
            </a:r>
            <a:endParaRPr lang="ko-KR" sz="4200" dirty="0">
              <a:solidFill>
                <a:srgbClr val="EBF4FF"/>
              </a:solidFill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ADB8FDD4-F693-116C-2523-BAF7FB028D33}"/>
              </a:ext>
            </a:extLst>
          </p:cNvPr>
          <p:cNvSpPr txBox="1"/>
          <p:nvPr/>
        </p:nvSpPr>
        <p:spPr>
          <a:xfrm>
            <a:off x="914400" y="3564731"/>
            <a:ext cx="6020790" cy="5678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1950" b="0" i="0" dirty="0">
                <a:solidFill>
                  <a:srgbClr val="EBF4FF"/>
                </a:solidFill>
                <a:latin typeface="Noto Sans KR"/>
                <a:ea typeface="Noto Sans KR"/>
              </a:rPr>
              <a:t>KR-TL </a:t>
            </a:r>
            <a:r>
              <a:rPr lang="ko-KR" altLang="en-US" sz="1950" b="0" i="0" dirty="0">
                <a:solidFill>
                  <a:srgbClr val="EBF4FF"/>
                </a:solidFill>
                <a:latin typeface="Noto Sans KR"/>
                <a:ea typeface="Noto Sans KR"/>
              </a:rPr>
              <a:t>의 주요 기능과 신뢰검증</a:t>
            </a:r>
            <a:endParaRPr lang="ko-KR" sz="1950" dirty="0">
              <a:solidFill>
                <a:srgbClr val="EBF4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26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ox 19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7522109C-6D45-0873-B677-910EE18A8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457200" y="1352550"/>
            <a:ext cx="2156371" cy="4521994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5" name="Box 5"/>
          <p:cNvSpPr/>
          <p:nvPr/>
        </p:nvSpPr>
        <p:spPr>
          <a:xfrm>
            <a:off x="460375" y="1355725"/>
            <a:ext cx="2153196" cy="295275"/>
          </a:xfrm>
          <a:prstGeom prst="rect">
            <a:avLst/>
          </a:prstGeom>
          <a:solidFill>
            <a:srgbClr val="EDF2F7">
              <a:alpha val="100000"/>
            </a:srgbClr>
          </a:solidFill>
          <a:ln>
            <a:noFill/>
          </a:ln>
        </p:spPr>
      </p:sp>
      <p:sp>
        <p:nvSpPr>
          <p:cNvPr id="6" name="Box 6"/>
          <p:cNvSpPr/>
          <p:nvPr/>
        </p:nvSpPr>
        <p:spPr>
          <a:xfrm>
            <a:off x="466725" y="5362575"/>
            <a:ext cx="2137321" cy="502444"/>
          </a:xfrm>
          <a:prstGeom prst="rect">
            <a:avLst/>
          </a:prstGeom>
          <a:solidFill>
            <a:srgbClr val="FAFAFC">
              <a:alpha val="100000"/>
            </a:srgbClr>
          </a:solidFill>
          <a:ln w="9525">
            <a:solidFill>
              <a:srgbClr val="EDF2F7"/>
            </a:solidFill>
          </a:ln>
        </p:spPr>
      </p:sp>
      <p:sp>
        <p:nvSpPr>
          <p:cNvPr id="7" name="Box 7"/>
          <p:cNvSpPr/>
          <p:nvPr/>
        </p:nvSpPr>
        <p:spPr>
          <a:xfrm>
            <a:off x="2737396" y="1352550"/>
            <a:ext cx="2156520" cy="4521994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8" name="Box 8"/>
          <p:cNvSpPr/>
          <p:nvPr/>
        </p:nvSpPr>
        <p:spPr>
          <a:xfrm>
            <a:off x="2740571" y="1355725"/>
            <a:ext cx="2153346" cy="295275"/>
          </a:xfrm>
          <a:prstGeom prst="rect">
            <a:avLst/>
          </a:prstGeom>
          <a:solidFill>
            <a:srgbClr val="EDF2F7">
              <a:alpha val="100000"/>
            </a:srgbClr>
          </a:solidFill>
          <a:ln>
            <a:noFill/>
          </a:ln>
        </p:spPr>
      </p:sp>
      <p:sp>
        <p:nvSpPr>
          <p:cNvPr id="9" name="Box 9"/>
          <p:cNvSpPr/>
          <p:nvPr/>
        </p:nvSpPr>
        <p:spPr>
          <a:xfrm>
            <a:off x="2746921" y="5362575"/>
            <a:ext cx="2137470" cy="502444"/>
          </a:xfrm>
          <a:prstGeom prst="rect">
            <a:avLst/>
          </a:prstGeom>
          <a:solidFill>
            <a:srgbClr val="FAFAFC">
              <a:alpha val="100000"/>
            </a:srgbClr>
          </a:solidFill>
          <a:ln w="9525">
            <a:solidFill>
              <a:srgbClr val="EDF2F7"/>
            </a:solidFill>
          </a:ln>
        </p:spPr>
      </p:sp>
      <p:sp>
        <p:nvSpPr>
          <p:cNvPr id="10" name="Box 10"/>
          <p:cNvSpPr/>
          <p:nvPr/>
        </p:nvSpPr>
        <p:spPr>
          <a:xfrm>
            <a:off x="5017740" y="1352550"/>
            <a:ext cx="2156371" cy="4521994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11" name="Box 11"/>
          <p:cNvSpPr/>
          <p:nvPr/>
        </p:nvSpPr>
        <p:spPr>
          <a:xfrm>
            <a:off x="5020915" y="1355725"/>
            <a:ext cx="2153196" cy="295275"/>
          </a:xfrm>
          <a:prstGeom prst="rect">
            <a:avLst/>
          </a:prstGeom>
          <a:solidFill>
            <a:srgbClr val="EDF2F7">
              <a:alpha val="100000"/>
            </a:srgbClr>
          </a:solidFill>
          <a:ln>
            <a:noFill/>
          </a:ln>
        </p:spPr>
      </p:sp>
      <p:sp>
        <p:nvSpPr>
          <p:cNvPr id="12" name="Box 12"/>
          <p:cNvSpPr/>
          <p:nvPr/>
        </p:nvSpPr>
        <p:spPr>
          <a:xfrm>
            <a:off x="5027265" y="5362575"/>
            <a:ext cx="2137321" cy="502444"/>
          </a:xfrm>
          <a:prstGeom prst="rect">
            <a:avLst/>
          </a:prstGeom>
          <a:solidFill>
            <a:srgbClr val="FAFAFC">
              <a:alpha val="100000"/>
            </a:srgbClr>
          </a:solidFill>
          <a:ln w="9525">
            <a:solidFill>
              <a:srgbClr val="EDF2F7"/>
            </a:solidFill>
          </a:ln>
        </p:spPr>
      </p:sp>
      <p:sp>
        <p:nvSpPr>
          <p:cNvPr id="13" name="Box 13"/>
          <p:cNvSpPr/>
          <p:nvPr/>
        </p:nvSpPr>
        <p:spPr>
          <a:xfrm>
            <a:off x="7297936" y="1352550"/>
            <a:ext cx="2156520" cy="4521994"/>
          </a:xfrm>
          <a:prstGeom prst="rect">
            <a:avLst/>
          </a:prstGeom>
          <a:noFill/>
          <a:ln w="9525">
            <a:solidFill>
              <a:srgbClr val="5B9BD5"/>
            </a:solidFill>
          </a:ln>
        </p:spPr>
      </p:sp>
      <p:sp>
        <p:nvSpPr>
          <p:cNvPr id="14" name="Box 14"/>
          <p:cNvSpPr/>
          <p:nvPr/>
        </p:nvSpPr>
        <p:spPr>
          <a:xfrm>
            <a:off x="7301198" y="1355725"/>
            <a:ext cx="2160000" cy="295275"/>
          </a:xfrm>
          <a:prstGeom prst="rect">
            <a:avLst/>
          </a:prstGeom>
          <a:solidFill>
            <a:srgbClr val="5B9BD5">
              <a:alpha val="100000"/>
            </a:srgbClr>
          </a:solidFill>
          <a:ln>
            <a:noFill/>
          </a:ln>
        </p:spPr>
      </p:sp>
      <p:sp>
        <p:nvSpPr>
          <p:cNvPr id="15" name="Box 15"/>
          <p:cNvSpPr/>
          <p:nvPr/>
        </p:nvSpPr>
        <p:spPr>
          <a:xfrm>
            <a:off x="7307461" y="5362575"/>
            <a:ext cx="2137470" cy="502444"/>
          </a:xfrm>
          <a:prstGeom prst="rect">
            <a:avLst/>
          </a:prstGeom>
          <a:solidFill>
            <a:srgbClr val="FAFAFC">
              <a:alpha val="100000"/>
            </a:srgbClr>
          </a:solidFill>
          <a:ln w="9525">
            <a:solidFill>
              <a:srgbClr val="EDF2F7"/>
            </a:solidFill>
          </a:ln>
        </p:spPr>
      </p:sp>
      <p:sp>
        <p:nvSpPr>
          <p:cNvPr id="16" name="Box 16"/>
          <p:cNvSpPr/>
          <p:nvPr/>
        </p:nvSpPr>
        <p:spPr>
          <a:xfrm>
            <a:off x="9578280" y="1352550"/>
            <a:ext cx="2156520" cy="4521994"/>
          </a:xfrm>
          <a:prstGeom prst="rect">
            <a:avLst/>
          </a:prstGeom>
          <a:noFill/>
          <a:ln w="9525">
            <a:solidFill>
              <a:srgbClr val="5B9BD5"/>
            </a:solidFill>
          </a:ln>
        </p:spPr>
      </p:sp>
      <p:sp>
        <p:nvSpPr>
          <p:cNvPr id="17" name="Box 17"/>
          <p:cNvSpPr/>
          <p:nvPr/>
        </p:nvSpPr>
        <p:spPr>
          <a:xfrm>
            <a:off x="9581542" y="1355725"/>
            <a:ext cx="2160000" cy="295275"/>
          </a:xfrm>
          <a:prstGeom prst="rect">
            <a:avLst/>
          </a:prstGeom>
          <a:solidFill>
            <a:srgbClr val="5B9BD5">
              <a:alpha val="100000"/>
            </a:srgbClr>
          </a:solidFill>
          <a:ln>
            <a:noFill/>
          </a:ln>
        </p:spPr>
      </p:sp>
      <p:sp>
        <p:nvSpPr>
          <p:cNvPr id="18" name="Box 18"/>
          <p:cNvSpPr/>
          <p:nvPr/>
        </p:nvSpPr>
        <p:spPr>
          <a:xfrm>
            <a:off x="9587805" y="5362575"/>
            <a:ext cx="2137470" cy="502444"/>
          </a:xfrm>
          <a:prstGeom prst="rect">
            <a:avLst/>
          </a:prstGeom>
          <a:solidFill>
            <a:srgbClr val="FAFAFC">
              <a:alpha val="100000"/>
            </a:srgbClr>
          </a:solidFill>
          <a:ln w="9525">
            <a:solidFill>
              <a:srgbClr val="EDF2F7"/>
            </a:solidFill>
          </a:ln>
        </p:spPr>
      </p:sp>
      <p:sp>
        <p:nvSpPr>
          <p:cNvPr id="20" name="Box 20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457200" y="133350"/>
            <a:ext cx="13352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KR-TL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의 주요 기능</a:t>
            </a:r>
            <a:endParaRPr lang="ko-KR" sz="1575" dirty="0"/>
          </a:p>
        </p:txBody>
      </p:sp>
      <p:sp>
        <p:nvSpPr>
          <p:cNvPr id="22" name="Text 22"/>
          <p:cNvSpPr txBox="1"/>
          <p:nvPr/>
        </p:nvSpPr>
        <p:spPr>
          <a:xfrm>
            <a:off x="457200" y="741759"/>
            <a:ext cx="5932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>
                <a:solidFill>
                  <a:srgbClr val="1A1A2E"/>
                </a:solidFill>
                <a:latin typeface="Noto Sans KR"/>
                <a:ea typeface="Noto Sans KR"/>
              </a:rPr>
              <a:t>KR-TL이 하는 일은 앵커 제공, 시점 판정, 유형 구분, 목록 진위 보장, 배포와 동기화 다섯 가지다.</a:t>
            </a:r>
            <a:endParaRPr lang="ko-KR" sz="1163"/>
          </a:p>
        </p:txBody>
      </p:sp>
      <p:sp>
        <p:nvSpPr>
          <p:cNvPr id="23" name="Text 23"/>
          <p:cNvSpPr txBox="1"/>
          <p:nvPr/>
        </p:nvSpPr>
        <p:spPr>
          <a:xfrm>
            <a:off x="581025" y="1419225"/>
            <a:ext cx="16847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38" b="1" i="0">
                <a:solidFill>
                  <a:srgbClr val="4A5568"/>
                </a:solidFill>
                <a:latin typeface="Noto Sans KR"/>
                <a:ea typeface="Noto Sans KR"/>
              </a:rPr>
              <a:t>F1</a:t>
            </a:r>
            <a:endParaRPr lang="ko-KR" sz="938"/>
          </a:p>
        </p:txBody>
      </p:sp>
      <p:sp>
        <p:nvSpPr>
          <p:cNvPr id="24" name="Text 24"/>
          <p:cNvSpPr txBox="1"/>
          <p:nvPr/>
        </p:nvSpPr>
        <p:spPr>
          <a:xfrm>
            <a:off x="581025" y="5457825"/>
            <a:ext cx="2905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A0AEC0"/>
                </a:solidFill>
                <a:latin typeface="Noto Sans KR"/>
                <a:ea typeface="Noto Sans KR"/>
              </a:rPr>
              <a:t>없으면</a:t>
            </a:r>
            <a:endParaRPr lang="ko-KR" sz="713"/>
          </a:p>
        </p:txBody>
      </p:sp>
      <p:sp>
        <p:nvSpPr>
          <p:cNvPr id="25" name="Text 25"/>
          <p:cNvSpPr txBox="1"/>
          <p:nvPr/>
        </p:nvSpPr>
        <p:spPr>
          <a:xfrm>
            <a:off x="2861221" y="1419225"/>
            <a:ext cx="16847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38" b="1" i="0">
                <a:solidFill>
                  <a:srgbClr val="4A5568"/>
                </a:solidFill>
                <a:latin typeface="Noto Sans KR"/>
                <a:ea typeface="Noto Sans KR"/>
              </a:rPr>
              <a:t>F2</a:t>
            </a:r>
            <a:endParaRPr lang="ko-KR" sz="938"/>
          </a:p>
        </p:txBody>
      </p:sp>
      <p:sp>
        <p:nvSpPr>
          <p:cNvPr id="26" name="Text 26"/>
          <p:cNvSpPr txBox="1"/>
          <p:nvPr/>
        </p:nvSpPr>
        <p:spPr>
          <a:xfrm>
            <a:off x="2861221" y="5457825"/>
            <a:ext cx="2905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A0AEC0"/>
                </a:solidFill>
                <a:latin typeface="Noto Sans KR"/>
                <a:ea typeface="Noto Sans KR"/>
              </a:rPr>
              <a:t>없으면</a:t>
            </a:r>
            <a:endParaRPr lang="ko-KR" sz="713"/>
          </a:p>
        </p:txBody>
      </p:sp>
      <p:sp>
        <p:nvSpPr>
          <p:cNvPr id="27" name="Text 27"/>
          <p:cNvSpPr txBox="1"/>
          <p:nvPr/>
        </p:nvSpPr>
        <p:spPr>
          <a:xfrm>
            <a:off x="5141565" y="1419225"/>
            <a:ext cx="16847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38" b="1" i="0">
                <a:solidFill>
                  <a:srgbClr val="4A5568"/>
                </a:solidFill>
                <a:latin typeface="Noto Sans KR"/>
                <a:ea typeface="Noto Sans KR"/>
              </a:rPr>
              <a:t>F3</a:t>
            </a:r>
            <a:endParaRPr lang="ko-KR" sz="938"/>
          </a:p>
        </p:txBody>
      </p:sp>
      <p:sp>
        <p:nvSpPr>
          <p:cNvPr id="28" name="Text 28"/>
          <p:cNvSpPr txBox="1"/>
          <p:nvPr/>
        </p:nvSpPr>
        <p:spPr>
          <a:xfrm>
            <a:off x="5141565" y="5457825"/>
            <a:ext cx="2905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A0AEC0"/>
                </a:solidFill>
                <a:latin typeface="Noto Sans KR"/>
                <a:ea typeface="Noto Sans KR"/>
              </a:rPr>
              <a:t>없으면</a:t>
            </a:r>
            <a:endParaRPr lang="ko-KR" sz="713"/>
          </a:p>
        </p:txBody>
      </p:sp>
      <p:sp>
        <p:nvSpPr>
          <p:cNvPr id="29" name="Text 29"/>
          <p:cNvSpPr txBox="1"/>
          <p:nvPr/>
        </p:nvSpPr>
        <p:spPr>
          <a:xfrm>
            <a:off x="7421761" y="1419225"/>
            <a:ext cx="16847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38" b="1" i="0">
                <a:solidFill>
                  <a:srgbClr val="FFFFFF"/>
                </a:solidFill>
                <a:latin typeface="Noto Sans KR"/>
                <a:ea typeface="Noto Sans KR"/>
              </a:rPr>
              <a:t>F4</a:t>
            </a:r>
            <a:endParaRPr lang="ko-KR" sz="938"/>
          </a:p>
        </p:txBody>
      </p:sp>
      <p:sp>
        <p:nvSpPr>
          <p:cNvPr id="30" name="Text 30"/>
          <p:cNvSpPr txBox="1"/>
          <p:nvPr/>
        </p:nvSpPr>
        <p:spPr>
          <a:xfrm>
            <a:off x="7421761" y="5457825"/>
            <a:ext cx="2905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A0AEC0"/>
                </a:solidFill>
                <a:latin typeface="Noto Sans KR"/>
                <a:ea typeface="Noto Sans KR"/>
              </a:rPr>
              <a:t>없으면</a:t>
            </a:r>
            <a:endParaRPr lang="ko-KR" sz="713"/>
          </a:p>
        </p:txBody>
      </p:sp>
      <p:sp>
        <p:nvSpPr>
          <p:cNvPr id="31" name="Text 31"/>
          <p:cNvSpPr txBox="1"/>
          <p:nvPr/>
        </p:nvSpPr>
        <p:spPr>
          <a:xfrm>
            <a:off x="9702105" y="1419225"/>
            <a:ext cx="16847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38" b="1" i="0">
                <a:solidFill>
                  <a:srgbClr val="FFFFFF"/>
                </a:solidFill>
                <a:latin typeface="Noto Sans KR"/>
                <a:ea typeface="Noto Sans KR"/>
              </a:rPr>
              <a:t>F5</a:t>
            </a:r>
            <a:endParaRPr lang="ko-KR" sz="938"/>
          </a:p>
        </p:txBody>
      </p:sp>
      <p:sp>
        <p:nvSpPr>
          <p:cNvPr id="32" name="Text 32"/>
          <p:cNvSpPr txBox="1"/>
          <p:nvPr/>
        </p:nvSpPr>
        <p:spPr>
          <a:xfrm>
            <a:off x="9702105" y="5457825"/>
            <a:ext cx="2905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A0AEC0"/>
                </a:solidFill>
                <a:latin typeface="Noto Sans KR"/>
                <a:ea typeface="Noto Sans KR"/>
              </a:rPr>
              <a:t>없으면</a:t>
            </a:r>
            <a:endParaRPr lang="ko-KR" sz="713"/>
          </a:p>
        </p:txBody>
      </p:sp>
      <p:sp>
        <p:nvSpPr>
          <p:cNvPr id="34" name="Text 34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36" name="Text 36"/>
          <p:cNvSpPr txBox="1"/>
          <p:nvPr/>
        </p:nvSpPr>
        <p:spPr>
          <a:xfrm>
            <a:off x="581025" y="1752600"/>
            <a:ext cx="50988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sz="1050" b="1" i="0" dirty="0" err="1">
                <a:solidFill>
                  <a:srgbClr val="1A1A2E"/>
                </a:solidFill>
                <a:latin typeface="Noto Sans KR"/>
                <a:ea typeface="Noto Sans KR"/>
              </a:rPr>
              <a:t>신뢰앵커</a:t>
            </a:r>
            <a:r>
              <a:rPr lang="en-US" altLang="ko-KR" sz="1050" b="1" i="0" dirty="0">
                <a:solidFill>
                  <a:srgbClr val="1A1A2E"/>
                </a:solidFill>
                <a:latin typeface="Noto Sans KR"/>
                <a:ea typeface="Noto Sans KR"/>
              </a:rPr>
              <a:t> </a:t>
            </a:r>
            <a:r>
              <a:rPr lang="ko-KR" altLang="ko-KR" sz="1050" b="1" dirty="0">
                <a:solidFill>
                  <a:srgbClr val="1A1A2E"/>
                </a:solidFill>
                <a:latin typeface="Noto Sans KR"/>
                <a:ea typeface="Noto Sans KR"/>
              </a:rPr>
              <a:t>제공</a:t>
            </a:r>
            <a:endParaRPr lang="ko-KR" altLang="ko-KR" sz="1050" dirty="0"/>
          </a:p>
          <a:p>
            <a:pPr algn="l"/>
            <a:endParaRPr lang="ko-KR" sz="1050" dirty="0"/>
          </a:p>
        </p:txBody>
      </p:sp>
      <p:sp>
        <p:nvSpPr>
          <p:cNvPr id="38" name="Text 38"/>
          <p:cNvSpPr txBox="1"/>
          <p:nvPr/>
        </p:nvSpPr>
        <p:spPr>
          <a:xfrm>
            <a:off x="2861221" y="1752600"/>
            <a:ext cx="547241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sz="1050" b="1" i="0" dirty="0">
                <a:solidFill>
                  <a:srgbClr val="1A1A2E"/>
                </a:solidFill>
                <a:latin typeface="Noto Sans KR"/>
                <a:ea typeface="Noto Sans KR"/>
              </a:rPr>
              <a:t>시점 기준</a:t>
            </a:r>
            <a:r>
              <a:rPr lang="en-US" altLang="ko-KR" sz="1050" b="1" i="0" dirty="0">
                <a:solidFill>
                  <a:srgbClr val="1A1A2E"/>
                </a:solidFill>
                <a:latin typeface="Noto Sans KR"/>
                <a:ea typeface="Noto Sans KR"/>
              </a:rPr>
              <a:t> </a:t>
            </a:r>
            <a:r>
              <a:rPr lang="ko-KR" altLang="ko-KR" sz="1050" b="1" dirty="0">
                <a:solidFill>
                  <a:srgbClr val="1A1A2E"/>
                </a:solidFill>
                <a:latin typeface="Noto Sans KR"/>
                <a:ea typeface="Noto Sans KR"/>
              </a:rPr>
              <a:t>상태 판정</a:t>
            </a:r>
            <a:endParaRPr lang="ko-KR" sz="1050" dirty="0"/>
          </a:p>
        </p:txBody>
      </p:sp>
      <p:sp>
        <p:nvSpPr>
          <p:cNvPr id="40" name="Text 40"/>
          <p:cNvSpPr txBox="1"/>
          <p:nvPr/>
        </p:nvSpPr>
        <p:spPr>
          <a:xfrm>
            <a:off x="5141565" y="1752600"/>
            <a:ext cx="38710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sz="1050" b="1" i="0" dirty="0">
                <a:solidFill>
                  <a:srgbClr val="1A1A2E"/>
                </a:solidFill>
                <a:latin typeface="Noto Sans KR"/>
                <a:ea typeface="Noto Sans KR"/>
              </a:rPr>
              <a:t>서비스</a:t>
            </a:r>
            <a:r>
              <a:rPr lang="en-US" altLang="ko-KR" sz="1050" b="1" i="0" dirty="0">
                <a:solidFill>
                  <a:srgbClr val="1A1A2E"/>
                </a:solidFill>
                <a:latin typeface="Noto Sans KR"/>
                <a:ea typeface="Noto Sans KR"/>
              </a:rPr>
              <a:t> </a:t>
            </a:r>
            <a:r>
              <a:rPr lang="ko-KR" altLang="ko-KR" sz="1050" b="1" dirty="0">
                <a:solidFill>
                  <a:srgbClr val="1A1A2E"/>
                </a:solidFill>
                <a:latin typeface="Noto Sans KR"/>
                <a:ea typeface="Noto Sans KR"/>
              </a:rPr>
              <a:t>유형 구분</a:t>
            </a:r>
            <a:endParaRPr lang="ko-KR" altLang="ko-KR" sz="1050" dirty="0"/>
          </a:p>
        </p:txBody>
      </p:sp>
      <p:sp>
        <p:nvSpPr>
          <p:cNvPr id="42" name="Text 42"/>
          <p:cNvSpPr txBox="1"/>
          <p:nvPr/>
        </p:nvSpPr>
        <p:spPr>
          <a:xfrm>
            <a:off x="7421761" y="1752600"/>
            <a:ext cx="38710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sz="1050" b="1" i="0" dirty="0">
                <a:solidFill>
                  <a:srgbClr val="1A1A2E"/>
                </a:solidFill>
                <a:latin typeface="Noto Sans KR"/>
                <a:ea typeface="Noto Sans KR"/>
              </a:rPr>
              <a:t>목록의</a:t>
            </a:r>
            <a:r>
              <a:rPr lang="en-US" altLang="ko-KR" sz="1050" b="1" i="0" dirty="0">
                <a:solidFill>
                  <a:srgbClr val="1A1A2E"/>
                </a:solidFill>
                <a:latin typeface="Noto Sans KR"/>
                <a:ea typeface="Noto Sans KR"/>
              </a:rPr>
              <a:t> </a:t>
            </a:r>
            <a:r>
              <a:rPr lang="ko-KR" altLang="ko-KR" sz="1050" b="1" dirty="0">
                <a:solidFill>
                  <a:srgbClr val="1A1A2E"/>
                </a:solidFill>
                <a:latin typeface="Noto Sans KR"/>
                <a:ea typeface="Noto Sans KR"/>
              </a:rPr>
              <a:t>진위 보장</a:t>
            </a:r>
            <a:endParaRPr lang="ko-KR" altLang="ko-KR" sz="1050" dirty="0"/>
          </a:p>
          <a:p>
            <a:pPr algn="l"/>
            <a:endParaRPr lang="ko-KR" sz="1050" dirty="0"/>
          </a:p>
        </p:txBody>
      </p:sp>
      <p:sp>
        <p:nvSpPr>
          <p:cNvPr id="44" name="Text 44"/>
          <p:cNvSpPr txBox="1"/>
          <p:nvPr/>
        </p:nvSpPr>
        <p:spPr>
          <a:xfrm>
            <a:off x="9702105" y="1752600"/>
            <a:ext cx="113526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sz="1050" b="1" i="0" dirty="0" err="1">
                <a:solidFill>
                  <a:srgbClr val="1A1A2E"/>
                </a:solidFill>
                <a:latin typeface="Noto Sans KR"/>
                <a:ea typeface="Noto Sans KR"/>
              </a:rPr>
              <a:t>배포</a:t>
            </a:r>
            <a:r>
              <a:rPr lang="ko-KR" altLang="ko-KR" sz="1050" b="1" dirty="0" err="1">
                <a:solidFill>
                  <a:srgbClr val="1A1A2E"/>
                </a:solidFill>
                <a:latin typeface="Noto Sans KR"/>
                <a:ea typeface="Noto Sans KR"/>
              </a:rPr>
              <a:t>·동기화</a:t>
            </a:r>
            <a:endParaRPr lang="ko-KR" altLang="ko-KR" sz="1050" dirty="0"/>
          </a:p>
          <a:p>
            <a:pPr algn="l"/>
            <a:endParaRPr lang="ko-KR" sz="1050" dirty="0"/>
          </a:p>
        </p:txBody>
      </p:sp>
      <p:sp>
        <p:nvSpPr>
          <p:cNvPr id="46" name="Text 46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07 / 13</a:t>
            </a:r>
            <a:endParaRPr lang="ko-KR" sz="788"/>
          </a:p>
        </p:txBody>
      </p:sp>
      <p:sp>
        <p:nvSpPr>
          <p:cNvPr id="47" name="Text 47"/>
          <p:cNvSpPr txBox="1"/>
          <p:nvPr/>
        </p:nvSpPr>
        <p:spPr>
          <a:xfrm>
            <a:off x="581025" y="2207716"/>
            <a:ext cx="1861691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인증서 경로 구성의 종착점이 될 서비스 </a:t>
            </a:r>
            <a:endParaRPr lang="ko-KR" sz="900"/>
          </a:p>
        </p:txBody>
      </p:sp>
      <p:sp>
        <p:nvSpPr>
          <p:cNvPr id="48" name="Text 48"/>
          <p:cNvSpPr txBox="1"/>
          <p:nvPr/>
        </p:nvSpPr>
        <p:spPr>
          <a:xfrm>
            <a:off x="581025" y="2390477"/>
            <a:ext cx="134496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인증서를 목록으로 내려준다</a:t>
            </a:r>
            <a:endParaRPr lang="ko-KR" sz="900"/>
          </a:p>
        </p:txBody>
      </p:sp>
      <p:sp>
        <p:nvSpPr>
          <p:cNvPr id="49" name="Text 49"/>
          <p:cNvSpPr txBox="1"/>
          <p:nvPr/>
        </p:nvSpPr>
        <p:spPr>
          <a:xfrm>
            <a:off x="2861221" y="2207716"/>
            <a:ext cx="1861691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서명 시점에 그 서비스가 어떤 상태였는</a:t>
            </a:r>
            <a:endParaRPr lang="ko-KR" sz="900"/>
          </a:p>
        </p:txBody>
      </p:sp>
      <p:sp>
        <p:nvSpPr>
          <p:cNvPr id="50" name="Text 50"/>
          <p:cNvSpPr txBox="1"/>
          <p:nvPr/>
        </p:nvSpPr>
        <p:spPr>
          <a:xfrm>
            <a:off x="2861221" y="2390477"/>
            <a:ext cx="102959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지를 소급해 판정한다</a:t>
            </a:r>
            <a:endParaRPr lang="ko-KR" sz="900"/>
          </a:p>
        </p:txBody>
      </p:sp>
      <p:sp>
        <p:nvSpPr>
          <p:cNvPr id="51" name="Text 51"/>
          <p:cNvSpPr txBox="1"/>
          <p:nvPr/>
        </p:nvSpPr>
        <p:spPr>
          <a:xfrm>
            <a:off x="5141565" y="2207716"/>
            <a:ext cx="1893838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서명용·타임스탬프·검증 서비스를 구분</a:t>
            </a:r>
            <a:endParaRPr lang="ko-KR" sz="900"/>
          </a:p>
        </p:txBody>
      </p:sp>
      <p:sp>
        <p:nvSpPr>
          <p:cNvPr id="52" name="Text 52"/>
          <p:cNvSpPr txBox="1"/>
          <p:nvPr/>
        </p:nvSpPr>
        <p:spPr>
          <a:xfrm>
            <a:off x="5141565" y="2390477"/>
            <a:ext cx="130388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해 용도 밖 사용을 걸러낸다</a:t>
            </a:r>
            <a:endParaRPr lang="ko-KR" sz="900"/>
          </a:p>
        </p:txBody>
      </p:sp>
      <p:sp>
        <p:nvSpPr>
          <p:cNvPr id="53" name="Text 53"/>
          <p:cNvSpPr txBox="1"/>
          <p:nvPr/>
        </p:nvSpPr>
        <p:spPr>
          <a:xfrm>
            <a:off x="7421761" y="2207716"/>
            <a:ext cx="1893838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목록에 서명·발행시각·유효기간을 부여</a:t>
            </a:r>
            <a:endParaRPr lang="ko-KR" sz="900"/>
          </a:p>
        </p:txBody>
      </p:sp>
      <p:sp>
        <p:nvSpPr>
          <p:cNvPr id="54" name="Text 54"/>
          <p:cNvSpPr txBox="1"/>
          <p:nvPr/>
        </p:nvSpPr>
        <p:spPr>
          <a:xfrm>
            <a:off x="7421761" y="2390477"/>
            <a:ext cx="127188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해 위조와 노후화를 막는다</a:t>
            </a:r>
            <a:endParaRPr lang="ko-KR" sz="900"/>
          </a:p>
        </p:txBody>
      </p:sp>
      <p:sp>
        <p:nvSpPr>
          <p:cNvPr id="55" name="Text 55"/>
          <p:cNvSpPr txBox="1"/>
          <p:nvPr/>
        </p:nvSpPr>
        <p:spPr>
          <a:xfrm>
            <a:off x="9702105" y="2207716"/>
            <a:ext cx="182969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정해진 주소에서 주기적으로 목록을 받</a:t>
            </a:r>
            <a:endParaRPr lang="ko-KR" sz="900"/>
          </a:p>
        </p:txBody>
      </p:sp>
      <p:sp>
        <p:nvSpPr>
          <p:cNvPr id="56" name="Text 56"/>
          <p:cNvSpPr txBox="1"/>
          <p:nvPr/>
        </p:nvSpPr>
        <p:spPr>
          <a:xfrm>
            <a:off x="9702105" y="2390477"/>
            <a:ext cx="1166664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2D3748"/>
                </a:solidFill>
                <a:latin typeface="Noto Sans KR"/>
                <a:ea typeface="Noto Sans KR"/>
              </a:rPr>
              <a:t>아 최신 상태를 유지한다</a:t>
            </a:r>
            <a:endParaRPr lang="ko-KR" sz="900"/>
          </a:p>
        </p:txBody>
      </p:sp>
      <p:sp>
        <p:nvSpPr>
          <p:cNvPr id="58" name="Text 58"/>
          <p:cNvSpPr txBox="1"/>
          <p:nvPr/>
        </p:nvSpPr>
        <p:spPr>
          <a:xfrm>
            <a:off x="581025" y="5622131"/>
            <a:ext cx="170824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이용기관이 앵커를 직접 수집·하드코딩</a:t>
            </a:r>
            <a:endParaRPr lang="ko-KR" sz="825"/>
          </a:p>
        </p:txBody>
      </p:sp>
      <p:sp>
        <p:nvSpPr>
          <p:cNvPr id="59" name="Text 59"/>
          <p:cNvSpPr txBox="1"/>
          <p:nvPr/>
        </p:nvSpPr>
        <p:spPr>
          <a:xfrm>
            <a:off x="2861221" y="5622131"/>
            <a:ext cx="190083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과거 서명이 사업자 지위 변경만으로 무효화</a:t>
            </a:r>
            <a:endParaRPr lang="ko-KR" sz="825"/>
          </a:p>
        </p:txBody>
      </p:sp>
      <p:sp>
        <p:nvSpPr>
          <p:cNvPr id="60" name="Text 60"/>
          <p:cNvSpPr txBox="1"/>
          <p:nvPr/>
        </p:nvSpPr>
        <p:spPr>
          <a:xfrm>
            <a:off x="5141565" y="5622131"/>
            <a:ext cx="187151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타임스탬프용 인증서로 문서 서명해도 통과</a:t>
            </a:r>
            <a:endParaRPr lang="ko-KR" sz="825"/>
          </a:p>
        </p:txBody>
      </p:sp>
      <p:sp>
        <p:nvSpPr>
          <p:cNvPr id="61" name="Text 61"/>
          <p:cNvSpPr txBox="1"/>
          <p:nvPr/>
        </p:nvSpPr>
        <p:spPr>
          <a:xfrm>
            <a:off x="7421761" y="5622131"/>
            <a:ext cx="151536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신뢰 판단의 근거 자체가 공격 대상</a:t>
            </a:r>
            <a:endParaRPr lang="ko-KR" sz="825"/>
          </a:p>
        </p:txBody>
      </p:sp>
      <p:sp>
        <p:nvSpPr>
          <p:cNvPr id="62" name="Text 62"/>
          <p:cNvSpPr txBox="1"/>
          <p:nvPr/>
        </p:nvSpPr>
        <p:spPr>
          <a:xfrm>
            <a:off x="9702105" y="5622131"/>
            <a:ext cx="17081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상태 변경이 검증 시점에 반영되지 않음</a:t>
            </a:r>
            <a:endParaRPr lang="ko-KR" sz="825"/>
          </a:p>
        </p:txBody>
      </p:sp>
      <p:sp>
        <p:nvSpPr>
          <p:cNvPr id="3" name="Text 57">
            <a:extLst>
              <a:ext uri="{FF2B5EF4-FFF2-40B4-BE49-F238E27FC236}">
                <a16:creationId xmlns:a16="http://schemas.microsoft.com/office/drawing/2014/main" id="{18D73B4B-CCD5-FF77-E790-D73C408FAAC4}"/>
              </a:ext>
            </a:extLst>
          </p:cNvPr>
          <p:cNvSpPr txBox="1"/>
          <p:nvPr/>
        </p:nvSpPr>
        <p:spPr>
          <a:xfrm>
            <a:off x="628650" y="6113859"/>
            <a:ext cx="4900017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altLang="ko-KR" sz="1013" b="1" dirty="0">
                <a:solidFill>
                  <a:srgbClr val="1A1A2E"/>
                </a:solidFill>
                <a:latin typeface="Noto Sans KR"/>
                <a:ea typeface="Noto Sans KR"/>
              </a:rPr>
              <a:t>F1~F3</a:t>
            </a:r>
            <a:r>
              <a:rPr lang="ko-KR" altLang="en-US" sz="1013" b="1" dirty="0">
                <a:solidFill>
                  <a:srgbClr val="1A1A2E"/>
                </a:solidFill>
                <a:latin typeface="Noto Sans KR"/>
                <a:ea typeface="Noto Sans KR"/>
              </a:rPr>
              <a:t>는 검증 과정에서 활용하고</a:t>
            </a:r>
            <a:r>
              <a:rPr lang="en-US" altLang="ko-KR" sz="1013" b="1" dirty="0">
                <a:solidFill>
                  <a:srgbClr val="1A1A2E"/>
                </a:solidFill>
                <a:latin typeface="Noto Sans KR"/>
                <a:ea typeface="Noto Sans KR"/>
              </a:rPr>
              <a:t>, </a:t>
            </a:r>
            <a:r>
              <a:rPr lang="en-US" altLang="ko-KR" sz="1013" b="1" dirty="0">
                <a:solidFill>
                  <a:srgbClr val="1A4A7A"/>
                </a:solidFill>
                <a:latin typeface="Noto Sans KR"/>
                <a:ea typeface="Noto Sans KR"/>
              </a:rPr>
              <a:t>F4~F5</a:t>
            </a:r>
            <a:r>
              <a:rPr lang="ko-KR" altLang="en-US" sz="1013" b="1" dirty="0">
                <a:solidFill>
                  <a:srgbClr val="1A4A7A"/>
                </a:solidFill>
                <a:latin typeface="Noto Sans KR"/>
                <a:ea typeface="Noto Sans KR"/>
              </a:rPr>
              <a:t>는 브라우저의 목록 관리 기능으로 구현한다</a:t>
            </a:r>
            <a:r>
              <a:rPr lang="en-US" altLang="ko-KR" sz="1013" b="1" dirty="0">
                <a:solidFill>
                  <a:srgbClr val="1A4A7A"/>
                </a:solidFill>
                <a:latin typeface="Noto Sans KR"/>
                <a:ea typeface="Noto Sans KR"/>
              </a:rPr>
              <a:t>.</a:t>
            </a:r>
            <a:endParaRPr lang="ko-KR" altLang="en-US" sz="1013" b="1" dirty="0">
              <a:solidFill>
                <a:srgbClr val="1A4A7A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ADE7197-6CA0-77B4-650D-CC8FD40E9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457200" y="4966097"/>
            <a:ext cx="5562600" cy="392311"/>
          </a:xfrm>
          <a:prstGeom prst="rect">
            <a:avLst/>
          </a:prstGeom>
          <a:solidFill>
            <a:srgbClr val="F6F8FC">
              <a:alpha val="100000"/>
            </a:srgbClr>
          </a:solidFill>
          <a:ln w="9525">
            <a:solidFill>
              <a:srgbClr val="E2E8F0"/>
            </a:solidFill>
          </a:ln>
        </p:spPr>
      </p:sp>
      <p:sp>
        <p:nvSpPr>
          <p:cNvPr id="5" name="Box 5"/>
          <p:cNvSpPr/>
          <p:nvPr/>
        </p:nvSpPr>
        <p:spPr>
          <a:xfrm>
            <a:off x="6172200" y="4966097"/>
            <a:ext cx="5562600" cy="392311"/>
          </a:xfrm>
          <a:prstGeom prst="rect">
            <a:avLst/>
          </a:prstGeom>
          <a:solidFill>
            <a:srgbClr val="FFFDF6">
              <a:alpha val="100000"/>
            </a:srgbClr>
          </a:solidFill>
          <a:ln w="9525">
            <a:solidFill>
              <a:srgbClr val="E0A96D"/>
            </a:solidFill>
          </a:ln>
        </p:spPr>
      </p:sp>
      <p:sp>
        <p:nvSpPr>
          <p:cNvPr id="6" name="Box 6"/>
          <p:cNvSpPr/>
          <p:nvPr/>
        </p:nvSpPr>
        <p:spPr>
          <a:xfrm>
            <a:off x="457200" y="5482233"/>
            <a:ext cx="11277600" cy="392311"/>
          </a:xfrm>
          <a:prstGeom prst="rect">
            <a:avLst/>
          </a:prstGeom>
          <a:solidFill>
            <a:srgbClr val="F6F8FC">
              <a:alpha val="100000"/>
            </a:srgbClr>
          </a:solidFill>
          <a:ln w="9525">
            <a:solidFill>
              <a:srgbClr val="E2E8F0"/>
            </a:solidFill>
          </a:ln>
        </p:spPr>
      </p:sp>
      <p:sp>
        <p:nvSpPr>
          <p:cNvPr id="7" name="Box 7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8" name="Box 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graphicFrame>
        <p:nvGraphicFramePr>
          <p:cNvPr id="9" name="Table 9"/>
          <p:cNvGraphicFramePr/>
          <p:nvPr>
            <p:extLst>
              <p:ext uri="{D42A27DB-BD31-4B8C-83A1-F6EECF244321}">
                <p14:modId xmlns:p14="http://schemas.microsoft.com/office/powerpoint/2010/main" val="778355471"/>
              </p:ext>
            </p:extLst>
          </p:nvPr>
        </p:nvGraphicFramePr>
        <p:xfrm>
          <a:off x="457200" y="1590675"/>
          <a:ext cx="5562600" cy="32896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0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확인 항목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판단</a:t>
                      </a:r>
                      <a:endParaRPr lang="ko-KR" sz="90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028">
                <a:tc>
                  <a:txBody>
                    <a:bodyPr/>
                    <a:lstStyle/>
                    <a:p>
                      <a:pPr algn="l"/>
                      <a:r>
                        <a:rPr lang="ko-KR" sz="938" b="1" i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발행시각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지금 적용 중인 목록보다 새 것인가 — 롤백 방지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1018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다음 갱신 예정시각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갱신 주기를 넘겨 방치되고 있지 않은가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326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유효기간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만료되지 않았는가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/>
          <p:nvPr>
            <p:extLst>
              <p:ext uri="{D42A27DB-BD31-4B8C-83A1-F6EECF244321}">
                <p14:modId xmlns:p14="http://schemas.microsoft.com/office/powerpoint/2010/main" val="3048486569"/>
              </p:ext>
            </p:extLst>
          </p:nvPr>
        </p:nvGraphicFramePr>
        <p:xfrm>
          <a:off x="6172200" y="1590675"/>
          <a:ext cx="5562600" cy="32896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0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확인 항목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판단</a:t>
                      </a:r>
                      <a:endParaRPr lang="ko-KR" sz="90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028">
                <a:tc>
                  <a:txBody>
                    <a:bodyPr/>
                    <a:lstStyle/>
                    <a:p>
                      <a:pPr algn="l"/>
                      <a:r>
                        <a:rPr lang="ko-KR" sz="938" b="1" i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출처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배포 주소가 합의된 주소인가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1018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목록 서명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고정된 </a:t>
                      </a:r>
                      <a:r>
                        <a:rPr lang="ko-KR" sz="938" b="0" i="0" dirty="0" err="1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신뢰앵커로</a:t>
                      </a:r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 서명이 검증되는가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326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서명자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목록 서명자가 지정된 발행 주체인가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11"/>
          <p:cNvSpPr txBox="1"/>
          <p:nvPr/>
        </p:nvSpPr>
        <p:spPr>
          <a:xfrm>
            <a:off x="457200" y="133350"/>
            <a:ext cx="36465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목록 </a:t>
            </a:r>
            <a:r>
              <a:rPr 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배포</a:t>
            </a:r>
            <a:r>
              <a:rPr lang="en-US" alt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및 진위 검증</a:t>
            </a:r>
            <a:endParaRPr lang="ko-KR" sz="1575" dirty="0"/>
          </a:p>
        </p:txBody>
      </p:sp>
      <p:sp>
        <p:nvSpPr>
          <p:cNvPr id="12" name="Text 12"/>
          <p:cNvSpPr txBox="1"/>
          <p:nvPr/>
        </p:nvSpPr>
        <p:spPr>
          <a:xfrm>
            <a:off x="457200" y="741759"/>
            <a:ext cx="4426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>
                <a:solidFill>
                  <a:srgbClr val="1A1A2E"/>
                </a:solidFill>
                <a:latin typeface="Noto Sans KR"/>
                <a:ea typeface="Noto Sans KR"/>
              </a:rPr>
              <a:t>받아온 목록은 바로 쓰지 않고, 배포시점과 진위를 확인한 뒤에 적용한다.</a:t>
            </a:r>
            <a:endParaRPr lang="ko-KR" sz="1163"/>
          </a:p>
        </p:txBody>
      </p:sp>
      <p:sp>
        <p:nvSpPr>
          <p:cNvPr id="13" name="Text 13"/>
          <p:cNvSpPr txBox="1"/>
          <p:nvPr/>
        </p:nvSpPr>
        <p:spPr>
          <a:xfrm>
            <a:off x="457200" y="1352550"/>
            <a:ext cx="69279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5B9BD5"/>
                </a:solidFill>
                <a:latin typeface="Noto Sans KR"/>
                <a:ea typeface="Noto Sans KR"/>
              </a:rPr>
              <a:t>배포시점 확인</a:t>
            </a:r>
            <a:endParaRPr lang="ko-KR" sz="863"/>
          </a:p>
        </p:txBody>
      </p:sp>
      <p:sp>
        <p:nvSpPr>
          <p:cNvPr id="14" name="Text 14"/>
          <p:cNvSpPr txBox="1"/>
          <p:nvPr/>
        </p:nvSpPr>
        <p:spPr>
          <a:xfrm>
            <a:off x="6172200" y="1352550"/>
            <a:ext cx="72896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5B9BD5"/>
                </a:solidFill>
                <a:latin typeface="Noto Sans KR"/>
                <a:ea typeface="Noto Sans KR"/>
              </a:rPr>
              <a:t>목록 진위 확인</a:t>
            </a:r>
            <a:endParaRPr lang="ko-KR" sz="863"/>
          </a:p>
        </p:txBody>
      </p:sp>
      <p:sp>
        <p:nvSpPr>
          <p:cNvPr id="15" name="Text 15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17" name="Text 17"/>
          <p:cNvSpPr txBox="1"/>
          <p:nvPr/>
        </p:nvSpPr>
        <p:spPr>
          <a:xfrm>
            <a:off x="600075" y="5596533"/>
            <a:ext cx="491549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4A5568"/>
                </a:solidFill>
                <a:latin typeface="Noto Sans KR"/>
                <a:ea typeface="Noto Sans KR"/>
              </a:rPr>
              <a:t>목록은 상태가 바뀔 때마다 새로 발행되므로, 브라우저는 정해진 주기로 내려받아 위 검사를 다시 거친다.</a:t>
            </a:r>
            <a:endParaRPr lang="ko-KR" sz="900"/>
          </a:p>
        </p:txBody>
      </p:sp>
      <p:sp>
        <p:nvSpPr>
          <p:cNvPr id="18" name="Text 18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08 / 13</a:t>
            </a:r>
            <a:endParaRPr lang="ko-KR" sz="788"/>
          </a:p>
        </p:txBody>
      </p:sp>
      <p:sp>
        <p:nvSpPr>
          <p:cNvPr id="19" name="Text 19"/>
          <p:cNvSpPr txBox="1"/>
          <p:nvPr/>
        </p:nvSpPr>
        <p:spPr>
          <a:xfrm>
            <a:off x="600075" y="5080397"/>
            <a:ext cx="467320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4A5568"/>
                </a:solidFill>
                <a:latin typeface="Noto Sans KR"/>
                <a:ea typeface="Noto Sans KR"/>
              </a:rPr>
              <a:t>만료된 목록은 정상 신뢰 판정에 사용하지 않는다. 기존 목록보다 오래된 목록으로 교체하지 않는다.</a:t>
            </a:r>
            <a:endParaRPr lang="ko-KR" sz="900"/>
          </a:p>
        </p:txBody>
      </p:sp>
      <p:sp>
        <p:nvSpPr>
          <p:cNvPr id="20" name="Text 20"/>
          <p:cNvSpPr txBox="1"/>
          <p:nvPr/>
        </p:nvSpPr>
        <p:spPr>
          <a:xfrm>
            <a:off x="6315075" y="5080397"/>
            <a:ext cx="376803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900" b="0" i="0">
                <a:solidFill>
                  <a:srgbClr val="7B341E"/>
                </a:solidFill>
                <a:latin typeface="Noto Sans KR"/>
                <a:ea typeface="Noto Sans KR"/>
              </a:rPr>
              <a:t> 신뢰앵커는 브라우저에서 변경할 수 없다. 앵커가 바뀔 수 있으면 나머지 검사가 모두 무의미해진다.</a:t>
            </a:r>
            <a:endParaRPr lang="ko-KR" sz="900"/>
          </a:p>
        </p:txBody>
      </p:sp>
      <p:sp>
        <p:nvSpPr>
          <p:cNvPr id="21" name="Text 21"/>
          <p:cNvSpPr txBox="1"/>
          <p:nvPr/>
        </p:nvSpPr>
        <p:spPr>
          <a:xfrm>
            <a:off x="628650" y="6122194"/>
            <a:ext cx="340236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 dirty="0">
                <a:solidFill>
                  <a:srgbClr val="1A1A2E"/>
                </a:solidFill>
                <a:latin typeface="Noto Sans KR"/>
                <a:ea typeface="Noto Sans KR"/>
              </a:rPr>
              <a:t>하나라도 걸리면 받아온 목록을 버리고 쓰던 목록을 그대로 둔다.</a:t>
            </a:r>
            <a:endParaRPr lang="ko-KR" sz="101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01035A20-D41C-08D9-E505-020CF8D0A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514350" y="2525613"/>
            <a:ext cx="11163300" cy="19050"/>
          </a:xfrm>
          <a:prstGeom prst="rect">
            <a:avLst/>
          </a:prstGeom>
          <a:solidFill>
            <a:srgbClr val="DCE4F0">
              <a:alpha val="100000"/>
            </a:srgbClr>
          </a:solidFill>
          <a:ln>
            <a:noFill/>
          </a:ln>
        </p:spPr>
      </p:sp>
      <p:sp>
        <p:nvSpPr>
          <p:cNvPr id="5" name="Box 5"/>
          <p:cNvSpPr/>
          <p:nvPr/>
        </p:nvSpPr>
        <p:spPr>
          <a:xfrm>
            <a:off x="1359694" y="2458938"/>
            <a:ext cx="95250" cy="952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A0AEC0"/>
            </a:solidFill>
          </a:ln>
        </p:spPr>
      </p:sp>
      <p:sp>
        <p:nvSpPr>
          <p:cNvPr id="6" name="Box 6"/>
          <p:cNvSpPr/>
          <p:nvPr/>
        </p:nvSpPr>
        <p:spPr>
          <a:xfrm>
            <a:off x="4689723" y="2439888"/>
            <a:ext cx="133350" cy="133350"/>
          </a:xfrm>
          <a:prstGeom prst="roundRect">
            <a:avLst/>
          </a:prstGeom>
          <a:solidFill>
            <a:srgbClr val="5B9BD5">
              <a:alpha val="100000"/>
            </a:srgbClr>
          </a:solidFill>
          <a:ln w="19050">
            <a:solidFill>
              <a:srgbClr val="5B9BD5"/>
            </a:solidFill>
          </a:ln>
        </p:spPr>
      </p:sp>
      <p:sp>
        <p:nvSpPr>
          <p:cNvPr id="7" name="Box 7"/>
          <p:cNvSpPr/>
          <p:nvPr/>
        </p:nvSpPr>
        <p:spPr>
          <a:xfrm>
            <a:off x="4384923" y="2963763"/>
            <a:ext cx="742950" cy="200025"/>
          </a:xfrm>
          <a:prstGeom prst="rect">
            <a:avLst/>
          </a:prstGeom>
          <a:solidFill>
            <a:srgbClr val="EBF4FF">
              <a:alpha val="100000"/>
            </a:srgbClr>
          </a:solidFill>
          <a:ln w="9525">
            <a:solidFill>
              <a:srgbClr val="5B9BD5"/>
            </a:solidFill>
          </a:ln>
        </p:spPr>
      </p:sp>
      <p:sp>
        <p:nvSpPr>
          <p:cNvPr id="8" name="Box 8"/>
          <p:cNvSpPr/>
          <p:nvPr/>
        </p:nvSpPr>
        <p:spPr>
          <a:xfrm>
            <a:off x="8057704" y="2458938"/>
            <a:ext cx="95250" cy="952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A0AEC0"/>
            </a:solidFill>
          </a:ln>
        </p:spPr>
      </p:sp>
      <p:sp>
        <p:nvSpPr>
          <p:cNvPr id="9" name="Box 9"/>
          <p:cNvSpPr/>
          <p:nvPr/>
        </p:nvSpPr>
        <p:spPr>
          <a:xfrm>
            <a:off x="10960150" y="2458938"/>
            <a:ext cx="95250" cy="952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A0AEC0"/>
            </a:solidFill>
          </a:ln>
        </p:spPr>
      </p:sp>
      <p:sp>
        <p:nvSpPr>
          <p:cNvPr id="10" name="Box 10"/>
          <p:cNvSpPr/>
          <p:nvPr/>
        </p:nvSpPr>
        <p:spPr>
          <a:xfrm>
            <a:off x="457200" y="5482928"/>
            <a:ext cx="11277600" cy="392311"/>
          </a:xfrm>
          <a:prstGeom prst="rect">
            <a:avLst/>
          </a:prstGeom>
          <a:solidFill>
            <a:srgbClr val="F6F8FC">
              <a:alpha val="100000"/>
            </a:srgbClr>
          </a:solidFill>
          <a:ln w="9525">
            <a:solidFill>
              <a:srgbClr val="E2E8F0"/>
            </a:solidFill>
          </a:ln>
        </p:spPr>
      </p:sp>
      <p:sp>
        <p:nvSpPr>
          <p:cNvPr id="12" name="Box 12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graphicFrame>
        <p:nvGraphicFramePr>
          <p:cNvPr id="13" name="Table 13"/>
          <p:cNvGraphicFramePr/>
          <p:nvPr>
            <p:extLst>
              <p:ext uri="{D42A27DB-BD31-4B8C-83A1-F6EECF244321}">
                <p14:modId xmlns:p14="http://schemas.microsoft.com/office/powerpoint/2010/main" val="2100132038"/>
              </p:ext>
            </p:extLst>
          </p:nvPr>
        </p:nvGraphicFramePr>
        <p:xfrm>
          <a:off x="457200" y="3582888"/>
          <a:ext cx="11277600" cy="13263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83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조회 방식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판정</a:t>
                      </a:r>
                      <a:endParaRPr lang="ko-KR" sz="90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결과</a:t>
                      </a:r>
                      <a:endParaRPr lang="ko-KR" sz="90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56"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현재 상태만 조회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B7791F"/>
                          </a:solidFill>
                          <a:latin typeface="Noto Sans KR"/>
                          <a:ea typeface="Noto Sans KR"/>
                        </a:rPr>
                        <a:t>신뢰 불가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정상적으로 만든 과거 서명이 사업자 지위 변경만으로 전부 무효가 된다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19">
                <a:tc>
                  <a:txBody>
                    <a:bodyPr/>
                    <a:lstStyle/>
                    <a:p>
                      <a:pPr algn="l"/>
                      <a:r>
                        <a:rPr lang="ko-KR" sz="938" b="1" i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상태 이력 + 서명시각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1" i="0" dirty="0">
                          <a:solidFill>
                            <a:srgbClr val="1A4A7A"/>
                          </a:solidFill>
                          <a:latin typeface="Noto Sans KR"/>
                          <a:ea typeface="Noto Sans KR"/>
                        </a:rPr>
                        <a:t>신뢰 가능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서명하던 시점의 상태가 판정 근거로 남는다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756"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상태 이력 + 믿을 수 없는 시각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판정 보류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서명시각을 믿을 수 없으면 시점 판정도 성립하지 않는다 · 타임스탬프가 필요한 이유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457200" y="133350"/>
            <a:ext cx="1637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서명</a:t>
            </a:r>
            <a:r>
              <a:rPr 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시점</a:t>
            </a:r>
            <a:r>
              <a:rPr lang="en-US" alt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기반 서비스 상태 판정</a:t>
            </a:r>
            <a:endParaRPr lang="ko-KR" sz="1575" dirty="0"/>
          </a:p>
        </p:txBody>
      </p:sp>
      <p:sp>
        <p:nvSpPr>
          <p:cNvPr id="15" name="Text 15"/>
          <p:cNvSpPr txBox="1"/>
          <p:nvPr/>
        </p:nvSpPr>
        <p:spPr>
          <a:xfrm>
            <a:off x="457200" y="741759"/>
            <a:ext cx="33447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>
                <a:solidFill>
                  <a:srgbClr val="1A1A2E"/>
                </a:solidFill>
                <a:latin typeface="Noto Sans KR"/>
                <a:ea typeface="Noto Sans KR"/>
              </a:rPr>
              <a:t>판정은 지금 상태가 아니라 서명한 시점의 상태로 한다.</a:t>
            </a:r>
            <a:endParaRPr lang="ko-KR" sz="1163"/>
          </a:p>
        </p:txBody>
      </p:sp>
      <p:sp>
        <p:nvSpPr>
          <p:cNvPr id="17" name="Text 17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19" name="Text 19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09 / 13</a:t>
            </a:r>
            <a:endParaRPr lang="ko-KR" sz="788"/>
          </a:p>
        </p:txBody>
      </p:sp>
      <p:sp>
        <p:nvSpPr>
          <p:cNvPr id="20" name="Text 20"/>
          <p:cNvSpPr txBox="1"/>
          <p:nvPr/>
        </p:nvSpPr>
        <p:spPr>
          <a:xfrm>
            <a:off x="1204764" y="2144613"/>
            <a:ext cx="42416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1" i="0">
                <a:solidFill>
                  <a:srgbClr val="4A5568"/>
                </a:solidFill>
                <a:latin typeface="Noto Sans KR"/>
                <a:ea typeface="Noto Sans KR"/>
              </a:rPr>
              <a:t>2024.03</a:t>
            </a:r>
            <a:endParaRPr lang="ko-KR" sz="825"/>
          </a:p>
        </p:txBody>
      </p:sp>
      <p:sp>
        <p:nvSpPr>
          <p:cNvPr id="21" name="Text 21"/>
          <p:cNvSpPr txBox="1"/>
          <p:nvPr/>
        </p:nvSpPr>
        <p:spPr>
          <a:xfrm>
            <a:off x="600074" y="5597228"/>
            <a:ext cx="8452485" cy="1863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sz="900" b="0" i="0" dirty="0">
                <a:solidFill>
                  <a:srgbClr val="4A5568"/>
                </a:solidFill>
                <a:latin typeface="Noto Sans KR"/>
                <a:ea typeface="Noto Sans KR"/>
              </a:rPr>
              <a:t>서명은 과거에 이뤄지고 검증은 나중에 이뤄진다. 그 사이 사업자 상태가 바뀔 수 있으므로, 목록은 </a:t>
            </a:r>
            <a:r>
              <a:rPr lang="ko-KR" sz="900" b="0" i="0" dirty="0" err="1">
                <a:solidFill>
                  <a:srgbClr val="4A5568"/>
                </a:solidFill>
                <a:latin typeface="Noto Sans KR"/>
                <a:ea typeface="Noto Sans KR"/>
              </a:rPr>
              <a:t>상태값</a:t>
            </a:r>
            <a:r>
              <a:rPr lang="ko-KR" sz="900" b="0" i="0" dirty="0">
                <a:solidFill>
                  <a:srgbClr val="4A5568"/>
                </a:solidFill>
                <a:latin typeface="Noto Sans KR"/>
                <a:ea typeface="Noto Sans KR"/>
              </a:rPr>
              <a:t> 하나가 아니라</a:t>
            </a:r>
            <a:r>
              <a:rPr lang="en-US" altLang="ko-KR" sz="900" b="0" i="0" dirty="0">
                <a:solidFill>
                  <a:srgbClr val="4A5568"/>
                </a:solidFill>
                <a:latin typeface="Noto Sans KR"/>
                <a:ea typeface="Noto Sans KR"/>
              </a:rPr>
              <a:t> </a:t>
            </a:r>
            <a:r>
              <a:rPr lang="ko-KR" altLang="ko-KR" sz="900" b="1" dirty="0" err="1">
                <a:solidFill>
                  <a:srgbClr val="1A1A2E"/>
                </a:solidFill>
                <a:latin typeface="Noto Sans KR"/>
                <a:ea typeface="Noto Sans KR"/>
              </a:rPr>
              <a:t>상태값과</a:t>
            </a:r>
            <a:r>
              <a:rPr lang="ko-KR" altLang="ko-KR" sz="900" b="1" dirty="0">
                <a:solidFill>
                  <a:srgbClr val="1A1A2E"/>
                </a:solidFill>
                <a:latin typeface="Noto Sans KR"/>
                <a:ea typeface="Noto Sans KR"/>
              </a:rPr>
              <a:t> 그 상태가 시작된 시각</a:t>
            </a:r>
            <a:r>
              <a:rPr lang="en-US" altLang="ko-KR" sz="900" b="1" dirty="0">
                <a:solidFill>
                  <a:srgbClr val="1A1A2E"/>
                </a:solidFill>
                <a:latin typeface="Noto Sans KR"/>
                <a:ea typeface="Noto Sans KR"/>
              </a:rPr>
              <a:t> </a:t>
            </a:r>
            <a:r>
              <a:rPr lang="ko-KR" altLang="ko-KR" sz="900" dirty="0">
                <a:solidFill>
                  <a:srgbClr val="4A5568"/>
                </a:solidFill>
                <a:latin typeface="Noto Sans KR"/>
                <a:ea typeface="Noto Sans KR"/>
              </a:rPr>
              <a:t>을 함께 담는다.</a:t>
            </a:r>
            <a:endParaRPr lang="ko-KR" altLang="ko-KR" sz="900" dirty="0"/>
          </a:p>
        </p:txBody>
      </p:sp>
      <p:sp>
        <p:nvSpPr>
          <p:cNvPr id="23" name="Text 23"/>
          <p:cNvSpPr txBox="1"/>
          <p:nvPr/>
        </p:nvSpPr>
        <p:spPr>
          <a:xfrm>
            <a:off x="1199852" y="2716113"/>
            <a:ext cx="43398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인정 개시</a:t>
            </a:r>
            <a:endParaRPr lang="ko-KR" sz="825"/>
          </a:p>
        </p:txBody>
      </p:sp>
      <p:sp>
        <p:nvSpPr>
          <p:cNvPr id="25" name="Text 25"/>
          <p:cNvSpPr txBox="1"/>
          <p:nvPr/>
        </p:nvSpPr>
        <p:spPr>
          <a:xfrm>
            <a:off x="4553843" y="2144613"/>
            <a:ext cx="42416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1" i="0">
                <a:solidFill>
                  <a:srgbClr val="4A5568"/>
                </a:solidFill>
                <a:latin typeface="Noto Sans KR"/>
                <a:ea typeface="Noto Sans KR"/>
              </a:rPr>
              <a:t>2025.06</a:t>
            </a:r>
            <a:endParaRPr lang="ko-KR" sz="825"/>
          </a:p>
        </p:txBody>
      </p:sp>
      <p:sp>
        <p:nvSpPr>
          <p:cNvPr id="26" name="Text 26"/>
          <p:cNvSpPr txBox="1"/>
          <p:nvPr/>
        </p:nvSpPr>
        <p:spPr>
          <a:xfrm>
            <a:off x="4548932" y="2716113"/>
            <a:ext cx="43398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1" i="0">
                <a:solidFill>
                  <a:srgbClr val="1A4A7A"/>
                </a:solidFill>
                <a:latin typeface="Noto Sans KR"/>
                <a:ea typeface="Noto Sans KR"/>
              </a:rPr>
              <a:t>서명 생성</a:t>
            </a:r>
            <a:endParaRPr lang="ko-KR" sz="825"/>
          </a:p>
        </p:txBody>
      </p:sp>
      <p:sp>
        <p:nvSpPr>
          <p:cNvPr id="27" name="Text 27"/>
          <p:cNvSpPr txBox="1"/>
          <p:nvPr/>
        </p:nvSpPr>
        <p:spPr>
          <a:xfrm>
            <a:off x="4480173" y="2992338"/>
            <a:ext cx="5715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50" b="1" i="0" dirty="0">
                <a:solidFill>
                  <a:srgbClr val="5B9BD5"/>
                </a:solidFill>
                <a:latin typeface="Noto Sans KR"/>
                <a:ea typeface="Noto Sans KR"/>
              </a:rPr>
              <a:t>판정 기준시각</a:t>
            </a:r>
            <a:endParaRPr lang="ko-KR" sz="750" dirty="0"/>
          </a:p>
        </p:txBody>
      </p:sp>
      <p:sp>
        <p:nvSpPr>
          <p:cNvPr id="28" name="Text 28"/>
          <p:cNvSpPr txBox="1"/>
          <p:nvPr/>
        </p:nvSpPr>
        <p:spPr>
          <a:xfrm>
            <a:off x="7902773" y="2144613"/>
            <a:ext cx="42416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1" i="0">
                <a:solidFill>
                  <a:srgbClr val="4A5568"/>
                </a:solidFill>
                <a:latin typeface="Noto Sans KR"/>
                <a:ea typeface="Noto Sans KR"/>
              </a:rPr>
              <a:t>2026.01</a:t>
            </a:r>
            <a:endParaRPr lang="ko-KR" sz="825"/>
          </a:p>
        </p:txBody>
      </p:sp>
      <p:sp>
        <p:nvSpPr>
          <p:cNvPr id="29" name="Text 29"/>
          <p:cNvSpPr txBox="1"/>
          <p:nvPr/>
        </p:nvSpPr>
        <p:spPr>
          <a:xfrm>
            <a:off x="7897862" y="2716113"/>
            <a:ext cx="43398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인정 철회</a:t>
            </a:r>
            <a:endParaRPr lang="ko-KR" sz="825"/>
          </a:p>
        </p:txBody>
      </p:sp>
      <p:sp>
        <p:nvSpPr>
          <p:cNvPr id="30" name="Text 30"/>
          <p:cNvSpPr txBox="1"/>
          <p:nvPr/>
        </p:nvSpPr>
        <p:spPr>
          <a:xfrm>
            <a:off x="10911334" y="2144613"/>
            <a:ext cx="21193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1" i="0">
                <a:solidFill>
                  <a:srgbClr val="4A5568"/>
                </a:solidFill>
                <a:latin typeface="Noto Sans KR"/>
                <a:ea typeface="Noto Sans KR"/>
              </a:rPr>
              <a:t>오늘</a:t>
            </a:r>
            <a:endParaRPr lang="ko-KR" sz="825"/>
          </a:p>
        </p:txBody>
      </p:sp>
      <p:sp>
        <p:nvSpPr>
          <p:cNvPr id="31" name="Text 31"/>
          <p:cNvSpPr txBox="1"/>
          <p:nvPr/>
        </p:nvSpPr>
        <p:spPr>
          <a:xfrm>
            <a:off x="10800308" y="2716113"/>
            <a:ext cx="43398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검증 시점</a:t>
            </a:r>
            <a:endParaRPr lang="ko-KR" sz="825"/>
          </a:p>
        </p:txBody>
      </p:sp>
      <p:sp>
        <p:nvSpPr>
          <p:cNvPr id="33" name="Box 7">
            <a:extLst>
              <a:ext uri="{FF2B5EF4-FFF2-40B4-BE49-F238E27FC236}">
                <a16:creationId xmlns:a16="http://schemas.microsoft.com/office/drawing/2014/main" id="{574403B4-116E-9ABF-B75D-D02C991B4315}"/>
              </a:ext>
            </a:extLst>
          </p:cNvPr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599F0271-C116-AAB2-1A4A-5221A95B4E0C}"/>
              </a:ext>
            </a:extLst>
          </p:cNvPr>
          <p:cNvSpPr txBox="1"/>
          <p:nvPr/>
        </p:nvSpPr>
        <p:spPr>
          <a:xfrm>
            <a:off x="628650" y="6122194"/>
            <a:ext cx="340236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altLang="ko-KR" sz="1013" b="1" dirty="0">
                <a:solidFill>
                  <a:srgbClr val="1A1A2E"/>
                </a:solidFill>
                <a:latin typeface="Noto Sans KR"/>
                <a:ea typeface="Noto Sans KR"/>
              </a:rPr>
              <a:t>그래서 목록은 현재 상태만이 아니라 상태 이력을 함께 담는다.</a:t>
            </a:r>
            <a:endParaRPr lang="ko-KR" altLang="ko-KR" sz="101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8A9BA216-B1CB-6D7B-27B8-37EC04B60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457200" y="1352550"/>
            <a:ext cx="1816001" cy="839986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5" name="Box 5"/>
          <p:cNvSpPr/>
          <p:nvPr/>
        </p:nvSpPr>
        <p:spPr>
          <a:xfrm>
            <a:off x="2349401" y="1352550"/>
            <a:ext cx="1816150" cy="839986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6" name="Box 6"/>
          <p:cNvSpPr/>
          <p:nvPr/>
        </p:nvSpPr>
        <p:spPr>
          <a:xfrm>
            <a:off x="4241750" y="1352550"/>
            <a:ext cx="1816001" cy="839986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7" name="Box 7"/>
          <p:cNvSpPr/>
          <p:nvPr/>
        </p:nvSpPr>
        <p:spPr>
          <a:xfrm>
            <a:off x="6133951" y="1352550"/>
            <a:ext cx="1816150" cy="839986"/>
          </a:xfrm>
          <a:prstGeom prst="rect">
            <a:avLst/>
          </a:prstGeom>
          <a:solidFill>
            <a:srgbClr val="EBF4FF">
              <a:alpha val="100000"/>
            </a:srgbClr>
          </a:solidFill>
          <a:ln w="9525">
            <a:solidFill>
              <a:srgbClr val="5B9BD5"/>
            </a:solidFill>
          </a:ln>
        </p:spPr>
      </p:sp>
      <p:sp>
        <p:nvSpPr>
          <p:cNvPr id="8" name="Box 8"/>
          <p:cNvSpPr/>
          <p:nvPr/>
        </p:nvSpPr>
        <p:spPr>
          <a:xfrm>
            <a:off x="8026301" y="1352550"/>
            <a:ext cx="1816150" cy="839986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9" name="Box 9"/>
          <p:cNvSpPr/>
          <p:nvPr/>
        </p:nvSpPr>
        <p:spPr>
          <a:xfrm>
            <a:off x="9918650" y="1352550"/>
            <a:ext cx="1816150" cy="839986"/>
          </a:xfrm>
          <a:prstGeom prst="rect">
            <a:avLst/>
          </a:prstGeom>
          <a:noFill/>
          <a:ln w="9525">
            <a:solidFill>
              <a:srgbClr val="DCE4F0"/>
            </a:solidFill>
          </a:ln>
        </p:spPr>
      </p:sp>
      <p:sp>
        <p:nvSpPr>
          <p:cNvPr id="10" name="Box 10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11" name="Box 11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graphicFrame>
        <p:nvGraphicFramePr>
          <p:cNvPr id="12" name="Table 12"/>
          <p:cNvGraphicFramePr/>
          <p:nvPr>
            <p:extLst>
              <p:ext uri="{D42A27DB-BD31-4B8C-83A1-F6EECF244321}">
                <p14:modId xmlns:p14="http://schemas.microsoft.com/office/powerpoint/2010/main" val="3449528594"/>
              </p:ext>
            </p:extLst>
          </p:nvPr>
        </p:nvGraphicFramePr>
        <p:xfrm>
          <a:off x="457200" y="2554486"/>
          <a:ext cx="5111651" cy="112156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2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ko-KR" sz="825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  <a:endParaRPr lang="ko-KR" sz="825" dirty="0">
                        <a:solidFill>
                          <a:schemeClr val="bg1"/>
                        </a:solidFill>
                      </a:endParaRPr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25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내용</a:t>
                      </a:r>
                      <a:endParaRPr lang="ko-KR" sz="825" dirty="0">
                        <a:solidFill>
                          <a:schemeClr val="bg1"/>
                        </a:solidFill>
                      </a:endParaRPr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algn="l"/>
                      <a:r>
                        <a:rPr lang="ko-KR" sz="863" b="1" i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발급자</a:t>
                      </a:r>
                      <a:r>
                        <a:rPr lang="ko-KR" sz="863" b="1" i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 식별정보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서명자 인증서의 발급자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서비스 식별정보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서비스 인증서 · 공개키 · SKI </a:t>
                      </a:r>
                      <a:r>
                        <a:rPr lang="ko-KR" sz="863" b="0" i="0" dirty="0" err="1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대조값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판정 기준시각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서명시각 또는 시각증거 기준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3"/>
          <p:cNvGraphicFramePr/>
          <p:nvPr>
            <p:extLst>
              <p:ext uri="{D42A27DB-BD31-4B8C-83A1-F6EECF244321}">
                <p14:modId xmlns:p14="http://schemas.microsoft.com/office/powerpoint/2010/main" val="1317067757"/>
              </p:ext>
            </p:extLst>
          </p:nvPr>
        </p:nvGraphicFramePr>
        <p:xfrm>
          <a:off x="5721251" y="2554486"/>
          <a:ext cx="6013549" cy="33200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4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ko-KR" sz="825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  <a:endParaRPr lang="ko-KR" sz="825" dirty="0">
                        <a:solidFill>
                          <a:schemeClr val="bg1"/>
                        </a:solidFill>
                      </a:endParaRPr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25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의미</a:t>
                      </a:r>
                      <a:endParaRPr lang="ko-KR" sz="825" dirty="0">
                        <a:solidFill>
                          <a:schemeClr val="bg1"/>
                        </a:solidFill>
                      </a:endParaRPr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88">
                <a:tc>
                  <a:txBody>
                    <a:bodyPr/>
                    <a:lstStyle/>
                    <a:p>
                      <a:pPr algn="l"/>
                      <a:r>
                        <a:rPr lang="ko-KR" sz="863" b="1" i="0" dirty="0">
                          <a:solidFill>
                            <a:srgbClr val="1A4A7A"/>
                          </a:solidFill>
                          <a:latin typeface="Noto Sans KR"/>
                          <a:ea typeface="Noto Sans KR"/>
                        </a:rPr>
                        <a:t>등록됨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목록에 있고 해당 시점 인정 상태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671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미등록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목록에 없음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671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서비스 철회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목록에 있으나 해당 시점 철회 상태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671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목록 만료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적용 중인 목록의 유효기간 경과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671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목록 접근 불가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목록을 가져오지 못함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486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목록 서명 오류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목록 진위 검증 실패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457200" y="1352550"/>
            <a:ext cx="1816001" cy="8399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 lang="ko-KR" sz="1200" dirty="0"/>
          </a:p>
        </p:txBody>
      </p:sp>
      <p:sp>
        <p:nvSpPr>
          <p:cNvPr id="15" name="Text 15"/>
          <p:cNvSpPr txBox="1"/>
          <p:nvPr/>
        </p:nvSpPr>
        <p:spPr>
          <a:xfrm>
            <a:off x="2349401" y="1352550"/>
            <a:ext cx="1816150" cy="8399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 lang="ko-KR" sz="1200" dirty="0"/>
          </a:p>
        </p:txBody>
      </p:sp>
      <p:sp>
        <p:nvSpPr>
          <p:cNvPr id="16" name="Text 16"/>
          <p:cNvSpPr txBox="1"/>
          <p:nvPr/>
        </p:nvSpPr>
        <p:spPr>
          <a:xfrm>
            <a:off x="4241750" y="1352550"/>
            <a:ext cx="1816001" cy="8399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 lang="ko-KR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6133951" y="1352550"/>
            <a:ext cx="1816150" cy="8399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 lang="ko-KR" sz="1200" dirty="0"/>
          </a:p>
        </p:txBody>
      </p:sp>
      <p:sp>
        <p:nvSpPr>
          <p:cNvPr id="18" name="Text 18"/>
          <p:cNvSpPr txBox="1"/>
          <p:nvPr/>
        </p:nvSpPr>
        <p:spPr>
          <a:xfrm>
            <a:off x="8026301" y="1352550"/>
            <a:ext cx="1816150" cy="8399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 lang="ko-KR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9918650" y="1352550"/>
            <a:ext cx="1816150" cy="8399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 lang="ko-KR" sz="1200" dirty="0"/>
          </a:p>
        </p:txBody>
      </p:sp>
      <p:sp>
        <p:nvSpPr>
          <p:cNvPr id="20" name="Text 20"/>
          <p:cNvSpPr txBox="1"/>
          <p:nvPr/>
        </p:nvSpPr>
        <p:spPr>
          <a:xfrm>
            <a:off x="457200" y="133350"/>
            <a:ext cx="18685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KR-TL 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기반 신뢰서비스 조회 및 검증</a:t>
            </a:r>
            <a:endParaRPr lang="ko-KR" sz="1575" dirty="0"/>
          </a:p>
        </p:txBody>
      </p:sp>
      <p:sp>
        <p:nvSpPr>
          <p:cNvPr id="21" name="Text 21"/>
          <p:cNvSpPr txBox="1"/>
          <p:nvPr/>
        </p:nvSpPr>
        <p:spPr>
          <a:xfrm>
            <a:off x="457200" y="741759"/>
            <a:ext cx="5533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>
                <a:solidFill>
                  <a:srgbClr val="1A1A2E"/>
                </a:solidFill>
                <a:latin typeface="Noto Sans KR"/>
                <a:ea typeface="Noto Sans KR"/>
              </a:rPr>
              <a:t>목록 조회는 서명자 인증서를 발급한 서비스가 KR-TL에 등록되어 있는지 확인하는 단계다.</a:t>
            </a:r>
            <a:endParaRPr lang="ko-KR" sz="1163"/>
          </a:p>
        </p:txBody>
      </p:sp>
      <p:sp>
        <p:nvSpPr>
          <p:cNvPr id="22" name="Text 22"/>
          <p:cNvSpPr txBox="1"/>
          <p:nvPr/>
        </p:nvSpPr>
        <p:spPr>
          <a:xfrm>
            <a:off x="561975" y="1524446"/>
            <a:ext cx="1095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A0AEC0"/>
                </a:solidFill>
                <a:latin typeface="Noto Sans KR"/>
                <a:ea typeface="Noto Sans KR"/>
              </a:rPr>
              <a:t>①</a:t>
            </a:r>
            <a:endParaRPr lang="ko-KR" sz="713"/>
          </a:p>
        </p:txBody>
      </p:sp>
      <p:sp>
        <p:nvSpPr>
          <p:cNvPr id="23" name="Text 23"/>
          <p:cNvSpPr txBox="1"/>
          <p:nvPr/>
        </p:nvSpPr>
        <p:spPr>
          <a:xfrm>
            <a:off x="2454176" y="1447800"/>
            <a:ext cx="1095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 dirty="0">
                <a:solidFill>
                  <a:srgbClr val="A0AEC0"/>
                </a:solidFill>
                <a:latin typeface="Noto Sans KR"/>
                <a:ea typeface="Noto Sans KR"/>
              </a:rPr>
              <a:t>②</a:t>
            </a:r>
            <a:endParaRPr lang="ko-KR" sz="713" dirty="0"/>
          </a:p>
        </p:txBody>
      </p:sp>
      <p:sp>
        <p:nvSpPr>
          <p:cNvPr id="24" name="Text 24"/>
          <p:cNvSpPr txBox="1"/>
          <p:nvPr/>
        </p:nvSpPr>
        <p:spPr>
          <a:xfrm>
            <a:off x="4346525" y="1447800"/>
            <a:ext cx="1095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A0AEC0"/>
                </a:solidFill>
                <a:latin typeface="Noto Sans KR"/>
                <a:ea typeface="Noto Sans KR"/>
              </a:rPr>
              <a:t>③</a:t>
            </a:r>
            <a:endParaRPr lang="ko-KR" sz="713"/>
          </a:p>
        </p:txBody>
      </p:sp>
      <p:sp>
        <p:nvSpPr>
          <p:cNvPr id="25" name="Text 25"/>
          <p:cNvSpPr txBox="1"/>
          <p:nvPr/>
        </p:nvSpPr>
        <p:spPr>
          <a:xfrm>
            <a:off x="6238726" y="1524446"/>
            <a:ext cx="1095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5B9BD5"/>
                </a:solidFill>
                <a:latin typeface="Noto Sans KR"/>
                <a:ea typeface="Noto Sans KR"/>
              </a:rPr>
              <a:t>④</a:t>
            </a:r>
            <a:endParaRPr lang="ko-KR" sz="713"/>
          </a:p>
        </p:txBody>
      </p:sp>
      <p:sp>
        <p:nvSpPr>
          <p:cNvPr id="26" name="Text 26"/>
          <p:cNvSpPr txBox="1"/>
          <p:nvPr/>
        </p:nvSpPr>
        <p:spPr>
          <a:xfrm>
            <a:off x="8131076" y="1447800"/>
            <a:ext cx="1095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A0AEC0"/>
                </a:solidFill>
                <a:latin typeface="Noto Sans KR"/>
                <a:ea typeface="Noto Sans KR"/>
              </a:rPr>
              <a:t>⑤</a:t>
            </a:r>
            <a:endParaRPr lang="ko-KR" sz="713"/>
          </a:p>
        </p:txBody>
      </p:sp>
      <p:sp>
        <p:nvSpPr>
          <p:cNvPr id="27" name="Text 27"/>
          <p:cNvSpPr txBox="1"/>
          <p:nvPr/>
        </p:nvSpPr>
        <p:spPr>
          <a:xfrm>
            <a:off x="10023425" y="1524446"/>
            <a:ext cx="1095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13" b="1" i="0">
                <a:solidFill>
                  <a:srgbClr val="A0AEC0"/>
                </a:solidFill>
                <a:latin typeface="Noto Sans KR"/>
                <a:ea typeface="Noto Sans KR"/>
              </a:rPr>
              <a:t>⑥</a:t>
            </a:r>
            <a:endParaRPr lang="ko-KR" sz="713"/>
          </a:p>
        </p:txBody>
      </p:sp>
      <p:sp>
        <p:nvSpPr>
          <p:cNvPr id="28" name="Text 28"/>
          <p:cNvSpPr txBox="1"/>
          <p:nvPr/>
        </p:nvSpPr>
        <p:spPr>
          <a:xfrm>
            <a:off x="457200" y="2316361"/>
            <a:ext cx="48026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5B9BD5"/>
                </a:solidFill>
                <a:latin typeface="Noto Sans KR"/>
                <a:ea typeface="Noto Sans KR"/>
              </a:rPr>
              <a:t>입력 정보</a:t>
            </a:r>
            <a:endParaRPr lang="ko-KR" sz="863"/>
          </a:p>
        </p:txBody>
      </p:sp>
      <p:sp>
        <p:nvSpPr>
          <p:cNvPr id="29" name="Text 29"/>
          <p:cNvSpPr txBox="1"/>
          <p:nvPr/>
        </p:nvSpPr>
        <p:spPr>
          <a:xfrm>
            <a:off x="5721251" y="2316361"/>
            <a:ext cx="48026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5B9BD5"/>
                </a:solidFill>
                <a:latin typeface="Noto Sans KR"/>
                <a:ea typeface="Noto Sans KR"/>
              </a:rPr>
              <a:t>출력 정보</a:t>
            </a:r>
            <a:endParaRPr lang="ko-KR" sz="863"/>
          </a:p>
        </p:txBody>
      </p:sp>
      <p:sp>
        <p:nvSpPr>
          <p:cNvPr id="30" name="Text 30"/>
          <p:cNvSpPr txBox="1"/>
          <p:nvPr/>
        </p:nvSpPr>
        <p:spPr>
          <a:xfrm>
            <a:off x="4859387" y="6122194"/>
            <a:ext cx="310307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5B9BD5"/>
                </a:solidFill>
                <a:latin typeface="Noto Sans KR"/>
                <a:ea typeface="Noto Sans KR"/>
              </a:rPr>
              <a:t>② ③</a:t>
            </a:r>
            <a:endParaRPr lang="ko-KR" sz="1013"/>
          </a:p>
        </p:txBody>
      </p:sp>
      <p:sp>
        <p:nvSpPr>
          <p:cNvPr id="31" name="Text 31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33" name="Text 33"/>
          <p:cNvSpPr txBox="1"/>
          <p:nvPr/>
        </p:nvSpPr>
        <p:spPr>
          <a:xfrm>
            <a:off x="561975" y="1686371"/>
            <a:ext cx="68505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서명 존재 확인</a:t>
            </a:r>
            <a:endParaRPr lang="ko-KR" sz="863"/>
          </a:p>
        </p:txBody>
      </p:sp>
      <p:sp>
        <p:nvSpPr>
          <p:cNvPr id="34" name="Text 34"/>
          <p:cNvSpPr txBox="1"/>
          <p:nvPr/>
        </p:nvSpPr>
        <p:spPr>
          <a:xfrm>
            <a:off x="2454176" y="1609725"/>
            <a:ext cx="112603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서명 구조 · ByteRange</a:t>
            </a:r>
            <a:endParaRPr lang="ko-KR" sz="863"/>
          </a:p>
        </p:txBody>
      </p:sp>
      <p:sp>
        <p:nvSpPr>
          <p:cNvPr id="35" name="Text 35"/>
          <p:cNvSpPr txBox="1"/>
          <p:nvPr/>
        </p:nvSpPr>
        <p:spPr>
          <a:xfrm>
            <a:off x="2454176" y="1763018"/>
            <a:ext cx="55364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문서 무결성</a:t>
            </a:r>
            <a:endParaRPr lang="ko-KR" sz="863"/>
          </a:p>
        </p:txBody>
      </p:sp>
      <p:sp>
        <p:nvSpPr>
          <p:cNvPr id="36" name="Text 36"/>
          <p:cNvSpPr txBox="1"/>
          <p:nvPr/>
        </p:nvSpPr>
        <p:spPr>
          <a:xfrm>
            <a:off x="4346525" y="1609725"/>
            <a:ext cx="55364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서명값 검증</a:t>
            </a:r>
            <a:endParaRPr lang="ko-KR" sz="863"/>
          </a:p>
        </p:txBody>
      </p:sp>
      <p:sp>
        <p:nvSpPr>
          <p:cNvPr id="37" name="Text 37"/>
          <p:cNvSpPr txBox="1"/>
          <p:nvPr/>
        </p:nvSpPr>
        <p:spPr>
          <a:xfrm>
            <a:off x="4346525" y="1763018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인증서 경로 구성</a:t>
            </a:r>
            <a:endParaRPr lang="ko-KR" sz="863"/>
          </a:p>
        </p:txBody>
      </p:sp>
      <p:sp>
        <p:nvSpPr>
          <p:cNvPr id="38" name="Text 38"/>
          <p:cNvSpPr txBox="1"/>
          <p:nvPr/>
        </p:nvSpPr>
        <p:spPr>
          <a:xfrm>
            <a:off x="6238726" y="1686371"/>
            <a:ext cx="45288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1A4A7A"/>
                </a:solidFill>
                <a:latin typeface="Noto Sans KR"/>
                <a:ea typeface="Noto Sans KR"/>
              </a:rPr>
              <a:t>목록 조회</a:t>
            </a:r>
            <a:endParaRPr lang="ko-KR" sz="863"/>
          </a:p>
        </p:txBody>
      </p:sp>
      <p:sp>
        <p:nvSpPr>
          <p:cNvPr id="39" name="Text 39"/>
          <p:cNvSpPr txBox="1"/>
          <p:nvPr/>
        </p:nvSpPr>
        <p:spPr>
          <a:xfrm>
            <a:off x="8131076" y="1609725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인증서 상태 확인</a:t>
            </a:r>
            <a:endParaRPr lang="ko-KR" sz="863"/>
          </a:p>
        </p:txBody>
      </p:sp>
      <p:sp>
        <p:nvSpPr>
          <p:cNvPr id="40" name="Text 40"/>
          <p:cNvSpPr txBox="1"/>
          <p:nvPr/>
        </p:nvSpPr>
        <p:spPr>
          <a:xfrm>
            <a:off x="8131076" y="1763018"/>
            <a:ext cx="62671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CRL / OCSP</a:t>
            </a:r>
            <a:endParaRPr lang="ko-KR" sz="863"/>
          </a:p>
        </p:txBody>
      </p:sp>
      <p:sp>
        <p:nvSpPr>
          <p:cNvPr id="41" name="Text 41"/>
          <p:cNvSpPr txBox="1"/>
          <p:nvPr/>
        </p:nvSpPr>
        <p:spPr>
          <a:xfrm>
            <a:off x="10023425" y="1686371"/>
            <a:ext cx="45288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2D3748"/>
                </a:solidFill>
                <a:latin typeface="Noto Sans KR"/>
                <a:ea typeface="Noto Sans KR"/>
              </a:rPr>
              <a:t>결과 산출</a:t>
            </a:r>
            <a:endParaRPr lang="ko-KR" sz="863"/>
          </a:p>
        </p:txBody>
      </p:sp>
      <p:sp>
        <p:nvSpPr>
          <p:cNvPr id="42" name="Text 42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10 / 13</a:t>
            </a:r>
            <a:endParaRPr lang="ko-KR" sz="788"/>
          </a:p>
        </p:txBody>
      </p:sp>
      <p:sp>
        <p:nvSpPr>
          <p:cNvPr id="43" name="Text 43"/>
          <p:cNvSpPr txBox="1"/>
          <p:nvPr/>
        </p:nvSpPr>
        <p:spPr>
          <a:xfrm>
            <a:off x="561975" y="1896814"/>
            <a:ext cx="18365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675" b="0" i="0">
                <a:solidFill>
                  <a:srgbClr val="A0AEC0"/>
                </a:solidFill>
                <a:latin typeface="Noto Sans KR"/>
                <a:ea typeface="Noto Sans KR"/>
              </a:rPr>
              <a:t>로컬</a:t>
            </a:r>
            <a:endParaRPr lang="ko-KR" sz="675"/>
          </a:p>
        </p:txBody>
      </p:sp>
      <p:sp>
        <p:nvSpPr>
          <p:cNvPr id="44" name="Text 44"/>
          <p:cNvSpPr txBox="1"/>
          <p:nvPr/>
        </p:nvSpPr>
        <p:spPr>
          <a:xfrm>
            <a:off x="2454176" y="1973461"/>
            <a:ext cx="18365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675" b="0" i="0">
                <a:solidFill>
                  <a:srgbClr val="A0AEC0"/>
                </a:solidFill>
                <a:latin typeface="Noto Sans KR"/>
                <a:ea typeface="Noto Sans KR"/>
              </a:rPr>
              <a:t>로컬</a:t>
            </a:r>
            <a:endParaRPr lang="ko-KR" sz="675"/>
          </a:p>
        </p:txBody>
      </p:sp>
      <p:sp>
        <p:nvSpPr>
          <p:cNvPr id="45" name="Text 45"/>
          <p:cNvSpPr txBox="1"/>
          <p:nvPr/>
        </p:nvSpPr>
        <p:spPr>
          <a:xfrm>
            <a:off x="4346525" y="1973461"/>
            <a:ext cx="18365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675" b="0" i="0">
                <a:solidFill>
                  <a:srgbClr val="A0AEC0"/>
                </a:solidFill>
                <a:latin typeface="Noto Sans KR"/>
                <a:ea typeface="Noto Sans KR"/>
              </a:rPr>
              <a:t>로컬</a:t>
            </a:r>
            <a:endParaRPr lang="ko-KR" sz="675"/>
          </a:p>
        </p:txBody>
      </p:sp>
      <p:sp>
        <p:nvSpPr>
          <p:cNvPr id="46" name="Text 46"/>
          <p:cNvSpPr txBox="1"/>
          <p:nvPr/>
        </p:nvSpPr>
        <p:spPr>
          <a:xfrm>
            <a:off x="6238726" y="1896814"/>
            <a:ext cx="37579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675" b="1" i="0">
                <a:solidFill>
                  <a:srgbClr val="5B9BD5"/>
                </a:solidFill>
                <a:latin typeface="Noto Sans KR"/>
                <a:ea typeface="Noto Sans KR"/>
              </a:rPr>
              <a:t>목록 참조</a:t>
            </a:r>
            <a:endParaRPr lang="ko-KR" sz="675"/>
          </a:p>
        </p:txBody>
      </p:sp>
      <p:sp>
        <p:nvSpPr>
          <p:cNvPr id="47" name="Text 47"/>
          <p:cNvSpPr txBox="1"/>
          <p:nvPr/>
        </p:nvSpPr>
        <p:spPr>
          <a:xfrm>
            <a:off x="8131076" y="1973461"/>
            <a:ext cx="37579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675" b="0" i="0">
                <a:solidFill>
                  <a:srgbClr val="A0AEC0"/>
                </a:solidFill>
                <a:latin typeface="Noto Sans KR"/>
                <a:ea typeface="Noto Sans KR"/>
              </a:rPr>
              <a:t>외부 통신</a:t>
            </a:r>
            <a:endParaRPr lang="ko-KR" sz="675"/>
          </a:p>
        </p:txBody>
      </p:sp>
      <p:sp>
        <p:nvSpPr>
          <p:cNvPr id="48" name="Text 48"/>
          <p:cNvSpPr txBox="1"/>
          <p:nvPr/>
        </p:nvSpPr>
        <p:spPr>
          <a:xfrm>
            <a:off x="628650" y="6122194"/>
            <a:ext cx="4249787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조회로 알 수 있는 것은 서비스의 등록 여부와 상태뿐이다. 문서 변조와 서명값은 </a:t>
            </a:r>
            <a:endParaRPr lang="ko-KR" sz="1013"/>
          </a:p>
        </p:txBody>
      </p:sp>
      <p:sp>
        <p:nvSpPr>
          <p:cNvPr id="49" name="Text 49"/>
          <p:cNvSpPr txBox="1"/>
          <p:nvPr/>
        </p:nvSpPr>
        <p:spPr>
          <a:xfrm>
            <a:off x="5150644" y="6122194"/>
            <a:ext cx="56644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에서 본다.</a:t>
            </a:r>
            <a:endParaRPr lang="ko-KR" sz="1013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89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E5325-32B5-DA82-B4A6-DCA4E48F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B07B1B5B-E641-8279-D0BB-1B12818AF21A}"/>
              </a:ext>
            </a:extLst>
          </p:cNvPr>
          <p:cNvSpPr txBox="1"/>
          <p:nvPr/>
        </p:nvSpPr>
        <p:spPr>
          <a:xfrm>
            <a:off x="914400" y="2697956"/>
            <a:ext cx="1535013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4200" b="1" i="0" dirty="0">
                <a:solidFill>
                  <a:srgbClr val="EBF4FF"/>
                </a:solidFill>
                <a:latin typeface="Noto Sans KR"/>
                <a:ea typeface="Noto Sans KR"/>
              </a:rPr>
              <a:t>3. </a:t>
            </a:r>
            <a:r>
              <a:rPr lang="ko-KR" altLang="en-US" sz="4200" b="1" i="0" dirty="0">
                <a:solidFill>
                  <a:srgbClr val="EBF4FF"/>
                </a:solidFill>
                <a:latin typeface="Noto Sans KR"/>
                <a:ea typeface="Noto Sans KR"/>
              </a:rPr>
              <a:t>적용 및 운영</a:t>
            </a:r>
            <a:endParaRPr lang="ko-KR" sz="4200" dirty="0">
              <a:solidFill>
                <a:srgbClr val="EBF4FF"/>
              </a:solidFill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81CC41BF-2484-6084-C263-C1A393B7CA93}"/>
              </a:ext>
            </a:extLst>
          </p:cNvPr>
          <p:cNvSpPr txBox="1"/>
          <p:nvPr/>
        </p:nvSpPr>
        <p:spPr>
          <a:xfrm>
            <a:off x="914400" y="3564731"/>
            <a:ext cx="6020790" cy="5678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1950" dirty="0">
                <a:solidFill>
                  <a:srgbClr val="EBF4FF"/>
                </a:solidFill>
              </a:rPr>
              <a:t>KR-TL </a:t>
            </a:r>
            <a:r>
              <a:rPr lang="ko-KR" altLang="en-US" sz="1950" dirty="0">
                <a:solidFill>
                  <a:srgbClr val="EBF4FF"/>
                </a:solidFill>
              </a:rPr>
              <a:t>적용을 위한 검증 및 서비스 정보</a:t>
            </a:r>
            <a:endParaRPr lang="ko-KR" sz="1950" dirty="0">
              <a:solidFill>
                <a:srgbClr val="EBF4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9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5FCB615-3542-5231-1A0E-9DAA7A34D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954584" y="1352550"/>
            <a:ext cx="822424" cy="161925"/>
          </a:xfrm>
          <a:prstGeom prst="rect">
            <a:avLst/>
          </a:prstGeom>
          <a:solidFill>
            <a:srgbClr val="F0F0F5">
              <a:alpha val="100000"/>
            </a:srgbClr>
          </a:solidFill>
          <a:ln>
            <a:noFill/>
          </a:ln>
        </p:spPr>
      </p:sp>
      <p:sp>
        <p:nvSpPr>
          <p:cNvPr id="5" name="Box 5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6" name="Box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graphicFrame>
        <p:nvGraphicFramePr>
          <p:cNvPr id="7" name="Table 7"/>
          <p:cNvGraphicFramePr/>
          <p:nvPr>
            <p:extLst>
              <p:ext uri="{D42A27DB-BD31-4B8C-83A1-F6EECF244321}">
                <p14:modId xmlns:p14="http://schemas.microsoft.com/office/powerpoint/2010/main" val="473767576"/>
              </p:ext>
            </p:extLst>
          </p:nvPr>
        </p:nvGraphicFramePr>
        <p:xfrm>
          <a:off x="457200" y="1638300"/>
          <a:ext cx="11277600" cy="42362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4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3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상태</a:t>
                      </a:r>
                      <a:endParaRPr lang="ko-KR" sz="900" dirty="0">
                        <a:solidFill>
                          <a:schemeClr val="bg1"/>
                        </a:solidFill>
                      </a:endParaRPr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색상</a:t>
                      </a:r>
                      <a:endParaRPr lang="ko-KR" sz="900" dirty="0">
                        <a:solidFill>
                          <a:schemeClr val="bg1"/>
                        </a:solidFill>
                      </a:endParaRPr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내용</a:t>
                      </a:r>
                      <a:endParaRPr lang="ko-KR" sz="900" dirty="0">
                        <a:solidFill>
                          <a:schemeClr val="bg1"/>
                        </a:solidFill>
                      </a:endParaRPr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예시</a:t>
                      </a:r>
                      <a:endParaRPr lang="ko-KR" sz="900" dirty="0">
                        <a:solidFill>
                          <a:schemeClr val="bg1"/>
                        </a:solidFill>
                      </a:endParaRPr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627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서명 없음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전자서명이 포함되지 않은 문서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서명 없는 일반 PDF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789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진본 확인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녹색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 err="1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서명·인증서·목록</a:t>
                      </a:r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 확인을 모두 통과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인정사업자 인증서로 서명된 정상 문서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789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확인 불가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회색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외부 정보를 확인하지 못해 판정을 보류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목록 접근 불가 · 폐지정보 미확인 · 오프라인 제한 검증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789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주의 필요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노랑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서명은 유효하나 신뢰 판단에 유보가 필요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목록 미등록 · 서비스 철회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925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서명 무효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빨강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서명 자체가 성립하지 않음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문서 변조 · </a:t>
                      </a:r>
                      <a:r>
                        <a:rPr lang="ko-KR" sz="938" b="0" i="0" dirty="0" err="1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서명값</a:t>
                      </a:r>
                      <a:r>
                        <a:rPr lang="ko-KR" sz="938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 검증 실패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Box 8"/>
          <p:cNvSpPr/>
          <p:nvPr/>
        </p:nvSpPr>
        <p:spPr>
          <a:xfrm>
            <a:off x="1666875" y="2278261"/>
            <a:ext cx="123825" cy="123825"/>
          </a:xfrm>
          <a:prstGeom prst="round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9" name="Box 9"/>
          <p:cNvSpPr/>
          <p:nvPr/>
        </p:nvSpPr>
        <p:spPr>
          <a:xfrm>
            <a:off x="1666875" y="3063925"/>
            <a:ext cx="123825" cy="123825"/>
          </a:xfrm>
          <a:prstGeom prst="rect">
            <a:avLst/>
          </a:prstGeom>
          <a:solidFill>
            <a:srgbClr val="68D391">
              <a:alpha val="100000"/>
            </a:srgbClr>
          </a:solidFill>
          <a:ln>
            <a:noFill/>
          </a:ln>
        </p:spPr>
      </p:sp>
      <p:sp>
        <p:nvSpPr>
          <p:cNvPr id="10" name="Box 10"/>
          <p:cNvSpPr/>
          <p:nvPr/>
        </p:nvSpPr>
        <p:spPr>
          <a:xfrm>
            <a:off x="1666875" y="3852714"/>
            <a:ext cx="123825" cy="123825"/>
          </a:xfrm>
          <a:prstGeom prst="rect">
            <a:avLst/>
          </a:prstGeom>
          <a:solidFill>
            <a:srgbClr val="CBD5E0">
              <a:alpha val="100000"/>
            </a:srgbClr>
          </a:solidFill>
          <a:ln>
            <a:noFill/>
          </a:ln>
        </p:spPr>
      </p:sp>
      <p:sp>
        <p:nvSpPr>
          <p:cNvPr id="11" name="Box 11"/>
          <p:cNvSpPr/>
          <p:nvPr/>
        </p:nvSpPr>
        <p:spPr>
          <a:xfrm>
            <a:off x="1666875" y="4641503"/>
            <a:ext cx="123825" cy="123825"/>
          </a:xfrm>
          <a:prstGeom prst="rect">
            <a:avLst/>
          </a:prstGeom>
          <a:solidFill>
            <a:srgbClr val="F6AD55">
              <a:alpha val="100000"/>
            </a:srgbClr>
          </a:solidFill>
          <a:ln>
            <a:noFill/>
          </a:ln>
        </p:spPr>
      </p:sp>
      <p:sp>
        <p:nvSpPr>
          <p:cNvPr id="12" name="Box 12"/>
          <p:cNvSpPr/>
          <p:nvPr/>
        </p:nvSpPr>
        <p:spPr>
          <a:xfrm>
            <a:off x="1666875" y="5427166"/>
            <a:ext cx="123825" cy="123825"/>
          </a:xfrm>
          <a:prstGeom prst="rect">
            <a:avLst/>
          </a:prstGeom>
          <a:solidFill>
            <a:srgbClr val="FC8181">
              <a:alpha val="100000"/>
            </a:srgbClr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57200" y="133350"/>
            <a:ext cx="28326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전자서명 검증결과 표시 체계</a:t>
            </a:r>
            <a:endParaRPr lang="ko-KR" sz="1575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741759"/>
            <a:ext cx="50524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>
                <a:solidFill>
                  <a:srgbClr val="1A1A2E"/>
                </a:solidFill>
                <a:latin typeface="Noto Sans KR"/>
                <a:ea typeface="Noto Sans KR"/>
              </a:rPr>
              <a:t>검증 결과는 다섯 가지 상태로 나누어 보여주고, 상태마다 사용자가 할 일이 다르다.</a:t>
            </a:r>
            <a:endParaRPr lang="ko-KR" sz="1163"/>
          </a:p>
        </p:txBody>
      </p:sp>
      <p:sp>
        <p:nvSpPr>
          <p:cNvPr id="15" name="Text 15"/>
          <p:cNvSpPr txBox="1"/>
          <p:nvPr/>
        </p:nvSpPr>
        <p:spPr>
          <a:xfrm>
            <a:off x="457200" y="1352550"/>
            <a:ext cx="51643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 dirty="0">
                <a:solidFill>
                  <a:srgbClr val="6AA4D9"/>
                </a:solidFill>
                <a:latin typeface="Noto Sans KR"/>
                <a:ea typeface="Noto Sans KR"/>
              </a:rPr>
              <a:t>표시 체계 </a:t>
            </a:r>
            <a:endParaRPr lang="ko-KR" sz="863" dirty="0">
              <a:solidFill>
                <a:srgbClr val="6AA4D9"/>
              </a:solidFill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1011734" y="1371600"/>
            <a:ext cx="72717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675" b="1" i="0">
                <a:solidFill>
                  <a:srgbClr val="5A5A70"/>
                </a:solidFill>
                <a:latin typeface="Noto Sans KR"/>
                <a:ea typeface="Noto Sans KR"/>
              </a:rPr>
              <a:t>검토안 · 확정 아님</a:t>
            </a:r>
            <a:endParaRPr lang="ko-KR" sz="675"/>
          </a:p>
        </p:txBody>
      </p:sp>
      <p:sp>
        <p:nvSpPr>
          <p:cNvPr id="17" name="Text 17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19" name="Text 19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11 / 13</a:t>
            </a:r>
            <a:endParaRPr lang="ko-KR" sz="788"/>
          </a:p>
        </p:txBody>
      </p:sp>
      <p:sp>
        <p:nvSpPr>
          <p:cNvPr id="20" name="Text 20"/>
          <p:cNvSpPr txBox="1"/>
          <p:nvPr/>
        </p:nvSpPr>
        <p:spPr>
          <a:xfrm>
            <a:off x="628650" y="6122194"/>
            <a:ext cx="409679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확인하지 못한 것과 등록되지 않은 것을 서명 무효와 같은 색으로 쓰지 않는다.</a:t>
            </a:r>
            <a:endParaRPr lang="ko-KR" sz="1013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0F7AF465-0475-ADCE-7413-A957219C3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137176"/>
              </p:ext>
            </p:extLst>
          </p:nvPr>
        </p:nvGraphicFramePr>
        <p:xfrm>
          <a:off x="457201" y="6007894"/>
          <a:ext cx="11277599" cy="440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599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44053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C8C2F6D9-99F1-5673-9DAD-6807C5728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464226"/>
              </p:ext>
            </p:extLst>
          </p:nvPr>
        </p:nvGraphicFramePr>
        <p:xfrm>
          <a:off x="8077200" y="5434013"/>
          <a:ext cx="3657600" cy="440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44053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E0FC36A3-5923-F3ED-ABA2-30A83C098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189559"/>
              </p:ext>
            </p:extLst>
          </p:nvPr>
        </p:nvGraphicFramePr>
        <p:xfrm>
          <a:off x="4267201" y="5434013"/>
          <a:ext cx="3657600" cy="440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44053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E3B55A2-429D-01F6-54C9-30867BA1F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111500"/>
              </p:ext>
            </p:extLst>
          </p:nvPr>
        </p:nvGraphicFramePr>
        <p:xfrm>
          <a:off x="457200" y="5434013"/>
          <a:ext cx="3657601" cy="440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1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44053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942989A-D250-074F-D03F-6BE4AEA14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8" name="Box 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graphicFrame>
        <p:nvGraphicFramePr>
          <p:cNvPr id="9" name="Table 9"/>
          <p:cNvGraphicFramePr/>
          <p:nvPr>
            <p:extLst>
              <p:ext uri="{D42A27DB-BD31-4B8C-83A1-F6EECF244321}">
                <p14:modId xmlns:p14="http://schemas.microsoft.com/office/powerpoint/2010/main" val="369819213"/>
              </p:ext>
            </p:extLst>
          </p:nvPr>
        </p:nvGraphicFramePr>
        <p:xfrm>
          <a:off x="457200" y="1352550"/>
          <a:ext cx="11277600" cy="368141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32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4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상황</a:t>
                      </a:r>
                      <a:endParaRPr lang="ko-KR" sz="900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동작</a:t>
                      </a:r>
                      <a:endParaRPr lang="ko-KR" sz="90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</a:rPr>
                        <a:t>표시</a:t>
                      </a:r>
                      <a:endParaRPr lang="ko-KR" sz="90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55">
                <a:tc>
                  <a:txBody>
                    <a:bodyPr/>
                    <a:lstStyle/>
                    <a:p>
                      <a:pPr algn="l"/>
                      <a:r>
                        <a:rPr lang="ko-KR" sz="938" b="1" i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동기화 성공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목록 갱신 후 온라인 검증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정상 결과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2880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실패 · 유효 캐시 있음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캐시로 제한 검증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7B341E"/>
                          </a:solidFill>
                          <a:latin typeface="Noto Sans KR"/>
                          <a:ea typeface="Noto Sans KR"/>
                        </a:rPr>
                        <a:t>확인 불가 / </a:t>
                      </a:r>
                      <a:r>
                        <a:rPr lang="ko-KR" sz="938" b="0" i="0" dirty="0" err="1">
                          <a:solidFill>
                            <a:srgbClr val="7B341E"/>
                          </a:solidFill>
                          <a:latin typeface="Noto Sans KR"/>
                          <a:ea typeface="Noto Sans KR"/>
                        </a:rPr>
                        <a:t>재검증</a:t>
                      </a:r>
                      <a:r>
                        <a:rPr lang="ko-KR" sz="938" b="0" i="0" dirty="0">
                          <a:solidFill>
                            <a:srgbClr val="7B341E"/>
                          </a:solidFill>
                          <a:latin typeface="Noto Sans KR"/>
                          <a:ea typeface="Noto Sans KR"/>
                        </a:rPr>
                        <a:t> 필요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7253">
                <a:tc>
                  <a:txBody>
                    <a:bodyPr/>
                    <a:lstStyle/>
                    <a:p>
                      <a:pPr algn="l"/>
                      <a:r>
                        <a:rPr lang="ko-KR" sz="938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실패 · 유효 캐시 없음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신뢰 판정 보류</a:t>
                      </a:r>
                      <a:endParaRPr lang="ko-KR" sz="938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38" b="0" i="0" dirty="0">
                          <a:solidFill>
                            <a:srgbClr val="1A4A7A"/>
                          </a:solidFill>
                          <a:latin typeface="Noto Sans KR"/>
                          <a:ea typeface="Noto Sans KR"/>
                        </a:rPr>
                        <a:t>PDF 열람은 유지</a:t>
                      </a:r>
                      <a:endParaRPr lang="ko-KR" sz="938" dirty="0"/>
                    </a:p>
                  </a:txBody>
                  <a:tcPr marL="123825" marR="123825" marT="76200" marB="762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457200" y="133350"/>
            <a:ext cx="188178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575" b="1" i="0" dirty="0" err="1">
                <a:solidFill>
                  <a:srgbClr val="FFFFFF"/>
                </a:solidFill>
                <a:latin typeface="Noto Sans KR"/>
                <a:ea typeface="Noto Sans KR"/>
              </a:rPr>
              <a:t>오프라인·장애</a:t>
            </a:r>
            <a:r>
              <a:rPr 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시 검증 처리</a:t>
            </a:r>
            <a:endParaRPr lang="ko-KR" sz="1575" dirty="0"/>
          </a:p>
        </p:txBody>
      </p:sp>
      <p:sp>
        <p:nvSpPr>
          <p:cNvPr id="11" name="Text 11"/>
          <p:cNvSpPr txBox="1"/>
          <p:nvPr/>
        </p:nvSpPr>
        <p:spPr>
          <a:xfrm>
            <a:off x="457200" y="741759"/>
            <a:ext cx="48339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>
                <a:solidFill>
                  <a:srgbClr val="1A1A2E"/>
                </a:solidFill>
                <a:latin typeface="Noto Sans KR"/>
                <a:ea typeface="Noto Sans KR"/>
              </a:rPr>
              <a:t>네트워크가 없어도 문서는 열리고, 만료된 캐시로는 정상 판정을 내리지 않는다.</a:t>
            </a:r>
            <a:endParaRPr lang="ko-KR" sz="1163"/>
          </a:p>
        </p:txBody>
      </p:sp>
      <p:sp>
        <p:nvSpPr>
          <p:cNvPr id="12" name="Text 12"/>
          <p:cNvSpPr txBox="1"/>
          <p:nvPr/>
        </p:nvSpPr>
        <p:spPr>
          <a:xfrm>
            <a:off x="628650" y="5557838"/>
            <a:ext cx="134302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문서 열람은 막지 않는다.</a:t>
            </a:r>
            <a:endParaRPr lang="ko-KR" sz="1013"/>
          </a:p>
        </p:txBody>
      </p:sp>
      <p:sp>
        <p:nvSpPr>
          <p:cNvPr id="13" name="Text 13"/>
          <p:cNvSpPr txBox="1"/>
          <p:nvPr/>
        </p:nvSpPr>
        <p:spPr>
          <a:xfrm>
            <a:off x="4438650" y="5557838"/>
            <a:ext cx="169604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만료되거나 깨진 캐시는 버린다.</a:t>
            </a:r>
            <a:endParaRPr lang="ko-KR" sz="1013"/>
          </a:p>
        </p:txBody>
      </p:sp>
      <p:sp>
        <p:nvSpPr>
          <p:cNvPr id="14" name="Text 14"/>
          <p:cNvSpPr txBox="1"/>
          <p:nvPr/>
        </p:nvSpPr>
        <p:spPr>
          <a:xfrm>
            <a:off x="8248650" y="5557838"/>
            <a:ext cx="286107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제한 검증이면 기준시각과 재검증 필요 여부를 남긴다.</a:t>
            </a:r>
            <a:endParaRPr lang="ko-KR" sz="1013"/>
          </a:p>
        </p:txBody>
      </p:sp>
      <p:sp>
        <p:nvSpPr>
          <p:cNvPr id="15" name="Text 15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17" name="Text 17"/>
          <p:cNvSpPr txBox="1"/>
          <p:nvPr/>
        </p:nvSpPr>
        <p:spPr>
          <a:xfrm>
            <a:off x="457200" y="5157788"/>
            <a:ext cx="48026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5B9BD5"/>
                </a:solidFill>
                <a:latin typeface="Noto Sans KR"/>
                <a:ea typeface="Noto Sans KR"/>
              </a:rPr>
              <a:t>고정 원칙</a:t>
            </a:r>
            <a:endParaRPr lang="ko-KR" sz="863"/>
          </a:p>
        </p:txBody>
      </p:sp>
      <p:sp>
        <p:nvSpPr>
          <p:cNvPr id="18" name="Text 18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12 / 13</a:t>
            </a:r>
            <a:endParaRPr lang="ko-KR" sz="788"/>
          </a:p>
        </p:txBody>
      </p:sp>
      <p:sp>
        <p:nvSpPr>
          <p:cNvPr id="19" name="Text 19"/>
          <p:cNvSpPr txBox="1"/>
          <p:nvPr/>
        </p:nvSpPr>
        <p:spPr>
          <a:xfrm>
            <a:off x="628650" y="6122194"/>
            <a:ext cx="242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확인이 안 될 때는 확인이 안 됐다고 표시한다.</a:t>
            </a:r>
            <a:endParaRPr lang="ko-KR" sz="1013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1DF7007A-CBD8-F8CE-A3A4-0ED899737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272839"/>
              </p:ext>
            </p:extLst>
          </p:nvPr>
        </p:nvGraphicFramePr>
        <p:xfrm>
          <a:off x="6350" y="558800"/>
          <a:ext cx="1218565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0">
                  <a:extLst>
                    <a:ext uri="{9D8B030D-6E8A-4147-A177-3AD203B41FA5}">
                      <a16:colId xmlns:a16="http://schemas.microsoft.com/office/drawing/2014/main" val="12874387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38100" cap="flat" cmpd="sng" algn="ctr">
                      <a:solidFill>
                        <a:srgbClr val="6A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45900"/>
                  </a:ext>
                </a:extLst>
              </a:tr>
            </a:tbl>
          </a:graphicData>
        </a:graphic>
      </p:graphicFrame>
      <p:sp>
        <p:nvSpPr>
          <p:cNvPr id="2" name="Box 2"/>
          <p:cNvSpPr/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1920627" y="1352550"/>
            <a:ext cx="471041" cy="161925"/>
          </a:xfrm>
          <a:prstGeom prst="rect">
            <a:avLst/>
          </a:prstGeom>
          <a:solidFill>
            <a:srgbClr val="F0F0F5">
              <a:alpha val="100000"/>
            </a:srgbClr>
          </a:solidFill>
          <a:ln>
            <a:noFill/>
          </a:ln>
        </p:spPr>
      </p:sp>
      <p:sp>
        <p:nvSpPr>
          <p:cNvPr id="14" name="Box 14"/>
          <p:cNvSpPr/>
          <p:nvPr/>
        </p:nvSpPr>
        <p:spPr>
          <a:xfrm>
            <a:off x="6560344" y="2797969"/>
            <a:ext cx="5174456" cy="575072"/>
          </a:xfrm>
          <a:prstGeom prst="rect">
            <a:avLst/>
          </a:prstGeom>
          <a:solidFill>
            <a:srgbClr val="F6F8FC">
              <a:alpha val="100000"/>
            </a:srgbClr>
          </a:solidFill>
          <a:ln w="9525">
            <a:solidFill>
              <a:srgbClr val="E2E8F0"/>
            </a:solidFill>
          </a:ln>
        </p:spPr>
      </p:sp>
      <p:sp>
        <p:nvSpPr>
          <p:cNvPr id="15" name="Box 15"/>
          <p:cNvSpPr/>
          <p:nvPr/>
        </p:nvSpPr>
        <p:spPr>
          <a:xfrm>
            <a:off x="457200" y="5998369"/>
            <a:ext cx="11277600" cy="4405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</p:sp>
      <p:sp>
        <p:nvSpPr>
          <p:cNvPr id="16" name="Box 1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noFill/>
          <a:ln w="9525">
            <a:solidFill>
              <a:srgbClr val="EDF2F7"/>
            </a:solidFill>
          </a:ln>
        </p:spPr>
      </p:sp>
      <p:graphicFrame>
        <p:nvGraphicFramePr>
          <p:cNvPr id="17" name="Table 17"/>
          <p:cNvGraphicFramePr/>
          <p:nvPr>
            <p:extLst>
              <p:ext uri="{D42A27DB-BD31-4B8C-83A1-F6EECF244321}">
                <p14:modId xmlns:p14="http://schemas.microsoft.com/office/powerpoint/2010/main" val="1168686256"/>
              </p:ext>
            </p:extLst>
          </p:nvPr>
        </p:nvGraphicFramePr>
        <p:xfrm>
          <a:off x="6560344" y="1590675"/>
          <a:ext cx="5174456" cy="112156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9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ko-KR" sz="825" b="1" i="0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상태값</a:t>
                      </a:r>
                      <a:endParaRPr lang="ko-KR" sz="825" dirty="0">
                        <a:solidFill>
                          <a:schemeClr val="bg1"/>
                        </a:solidFill>
                      </a:endParaRPr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25" b="1" i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의미</a:t>
                      </a:r>
                      <a:endParaRPr lang="ko-KR" sz="825">
                        <a:solidFill>
                          <a:schemeClr val="bg1"/>
                        </a:solidFill>
                      </a:endParaRPr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25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시점 판정</a:t>
                      </a:r>
                      <a:endParaRPr lang="ko-KR" sz="825" dirty="0">
                        <a:solidFill>
                          <a:schemeClr val="bg1"/>
                        </a:solidFill>
                      </a:endParaRPr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granted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</a:rPr>
                        <a:t>해당 시점에 인정 상태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4A7A"/>
                          </a:solidFill>
                          <a:latin typeface="Noto Sans KR"/>
                          <a:ea typeface="Noto Sans KR"/>
                        </a:rPr>
                        <a:t>신뢰 가능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withdrawn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인정이 철회된 상태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1" i="0" dirty="0">
                          <a:solidFill>
                            <a:srgbClr val="7B341E"/>
                          </a:solidFill>
                          <a:latin typeface="Noto Sans KR"/>
                          <a:ea typeface="Noto Sans KR"/>
                        </a:rPr>
                        <a:t>신뢰 불가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algn="l"/>
                      <a:r>
                        <a:rPr lang="ko-KR" sz="863" b="1" i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</a:rPr>
                        <a:t>목록에 없음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등록된 적이 없음</a:t>
                      </a:r>
                      <a:endParaRPr lang="ko-KR" sz="863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1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판단 유보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8"/>
          <p:cNvGraphicFramePr/>
          <p:nvPr>
            <p:extLst>
              <p:ext uri="{D42A27DB-BD31-4B8C-83A1-F6EECF244321}">
                <p14:modId xmlns:p14="http://schemas.microsoft.com/office/powerpoint/2010/main" val="2915455408"/>
              </p:ext>
            </p:extLst>
          </p:nvPr>
        </p:nvGraphicFramePr>
        <p:xfrm>
          <a:off x="6560344" y="3715941"/>
          <a:ext cx="5174456" cy="566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0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algn="l"/>
                      <a:r>
                        <a:rPr lang="ko-KR" sz="863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CA/QC</a:t>
                      </a:r>
                      <a:endParaRPr lang="ko-KR" sz="863" dirty="0">
                        <a:solidFill>
                          <a:schemeClr val="bg1"/>
                        </a:solidFill>
                      </a:endParaRPr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전자서명 인증서 발급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algn="l"/>
                      <a:r>
                        <a:rPr lang="ko-KR" sz="863" b="1" i="0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</a:rPr>
                        <a:t>TSA</a:t>
                      </a:r>
                      <a:endParaRPr lang="ko-KR" sz="863" dirty="0">
                        <a:solidFill>
                          <a:schemeClr val="bg1"/>
                        </a:solidFill>
                      </a:endParaRPr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863" b="0" i="0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</a:rPr>
                        <a:t>타임스탬프</a:t>
                      </a:r>
                      <a:endParaRPr lang="ko-KR" sz="863" dirty="0"/>
                    </a:p>
                  </a:txBody>
                  <a:tcPr marL="104775" marR="104775" marT="57150" marB="5715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19"/>
          <p:cNvSpPr txBox="1"/>
          <p:nvPr/>
        </p:nvSpPr>
        <p:spPr>
          <a:xfrm>
            <a:off x="457200" y="133350"/>
            <a:ext cx="17976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KR-TL </a:t>
            </a:r>
            <a:r>
              <a:rPr lang="ko-KR" altLang="en-US" sz="1575" b="1" i="0" dirty="0">
                <a:solidFill>
                  <a:srgbClr val="FFFFFF"/>
                </a:solidFill>
                <a:latin typeface="Noto Sans KR"/>
                <a:ea typeface="Noto Sans KR"/>
              </a:rPr>
              <a:t>서비스 정보 구성 예시</a:t>
            </a:r>
            <a:endParaRPr lang="ko-KR" sz="1575" dirty="0"/>
          </a:p>
        </p:txBody>
      </p:sp>
      <p:sp>
        <p:nvSpPr>
          <p:cNvPr id="20" name="Text 20"/>
          <p:cNvSpPr txBox="1"/>
          <p:nvPr/>
        </p:nvSpPr>
        <p:spPr>
          <a:xfrm>
            <a:off x="457200" y="741759"/>
            <a:ext cx="61719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163" b="1" i="0">
                <a:solidFill>
                  <a:srgbClr val="1A1A2E"/>
                </a:solidFill>
                <a:latin typeface="Noto Sans KR"/>
                <a:ea typeface="Noto Sans KR"/>
              </a:rPr>
              <a:t>KR-TL은 ETSI TS 119 612 형식의 XML이고, 서비스마다 상태값과 개시시각이 한 쌍으로 들어간다.</a:t>
            </a:r>
            <a:endParaRPr lang="ko-KR" sz="1163"/>
          </a:p>
        </p:txBody>
      </p:sp>
      <p:sp>
        <p:nvSpPr>
          <p:cNvPr id="21" name="Text 21"/>
          <p:cNvSpPr txBox="1"/>
          <p:nvPr/>
        </p:nvSpPr>
        <p:spPr>
          <a:xfrm>
            <a:off x="457200" y="1352550"/>
            <a:ext cx="13400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5B9BD5"/>
                </a:solidFill>
                <a:latin typeface="Noto Sans KR"/>
                <a:ea typeface="Noto Sans KR"/>
              </a:rPr>
              <a:t>형식 — Service 한 건 발췌 </a:t>
            </a:r>
            <a:endParaRPr lang="ko-KR" sz="863"/>
          </a:p>
        </p:txBody>
      </p:sp>
      <p:sp>
        <p:nvSpPr>
          <p:cNvPr id="22" name="Text 22"/>
          <p:cNvSpPr txBox="1"/>
          <p:nvPr/>
        </p:nvSpPr>
        <p:spPr>
          <a:xfrm>
            <a:off x="1977777" y="1371600"/>
            <a:ext cx="37579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675" b="1" i="0">
                <a:solidFill>
                  <a:srgbClr val="5A5A70"/>
                </a:solidFill>
                <a:latin typeface="Noto Sans KR"/>
                <a:ea typeface="Noto Sans KR"/>
              </a:rPr>
              <a:t>구조 예시</a:t>
            </a:r>
            <a:endParaRPr lang="ko-KR" sz="675"/>
          </a:p>
        </p:txBody>
      </p:sp>
      <p:sp>
        <p:nvSpPr>
          <p:cNvPr id="25" name="Text 25"/>
          <p:cNvSpPr txBox="1"/>
          <p:nvPr/>
        </p:nvSpPr>
        <p:spPr>
          <a:xfrm>
            <a:off x="6560344" y="1352550"/>
            <a:ext cx="69279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>
                <a:solidFill>
                  <a:srgbClr val="5B9BD5"/>
                </a:solidFill>
                <a:latin typeface="Noto Sans KR"/>
                <a:ea typeface="Noto Sans KR"/>
              </a:rPr>
              <a:t>서비스 상태값</a:t>
            </a:r>
            <a:endParaRPr lang="ko-KR" sz="863"/>
          </a:p>
        </p:txBody>
      </p:sp>
      <p:sp>
        <p:nvSpPr>
          <p:cNvPr id="26" name="Text 26"/>
          <p:cNvSpPr txBox="1"/>
          <p:nvPr/>
        </p:nvSpPr>
        <p:spPr>
          <a:xfrm>
            <a:off x="457200" y="6648450"/>
            <a:ext cx="15123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KR-TL 국내 전자서명 신뢰목록 개요</a:t>
            </a:r>
            <a:endParaRPr lang="ko-KR" sz="788"/>
          </a:p>
        </p:txBody>
      </p:sp>
      <p:sp>
        <p:nvSpPr>
          <p:cNvPr id="45" name="Text 45"/>
          <p:cNvSpPr txBox="1"/>
          <p:nvPr/>
        </p:nvSpPr>
        <p:spPr>
          <a:xfrm>
            <a:off x="628650" y="6122194"/>
            <a:ext cx="425574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1013" b="1" i="0">
                <a:solidFill>
                  <a:srgbClr val="1A1A2E"/>
                </a:solidFill>
                <a:latin typeface="Noto Sans KR"/>
                <a:ea typeface="Noto Sans KR"/>
              </a:rPr>
              <a:t>서비스 하나가 곧 판정 단위다. 같은 사업자라도 서비스마다 상태가 다를 수 있다.</a:t>
            </a:r>
            <a:endParaRPr lang="ko-KR" sz="1013"/>
          </a:p>
        </p:txBody>
      </p:sp>
      <p:sp>
        <p:nvSpPr>
          <p:cNvPr id="46" name="Text 46"/>
          <p:cNvSpPr txBox="1"/>
          <p:nvPr/>
        </p:nvSpPr>
        <p:spPr>
          <a:xfrm>
            <a:off x="10837366" y="6648450"/>
            <a:ext cx="7774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788" b="0" i="0">
                <a:solidFill>
                  <a:srgbClr val="A0AEC0"/>
                </a:solidFill>
                <a:latin typeface="Noto Sans KR"/>
                <a:ea typeface="Noto Sans KR"/>
              </a:rPr>
              <a:t>㈜일렉서티 13 / 13</a:t>
            </a:r>
            <a:endParaRPr lang="ko-KR" sz="788"/>
          </a:p>
        </p:txBody>
      </p:sp>
      <p:sp>
        <p:nvSpPr>
          <p:cNvPr id="48" name="Text 48"/>
          <p:cNvSpPr txBox="1"/>
          <p:nvPr/>
        </p:nvSpPr>
        <p:spPr>
          <a:xfrm>
            <a:off x="457200" y="5706963"/>
            <a:ext cx="424934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25" b="0" i="0">
                <a:solidFill>
                  <a:srgbClr val="718096"/>
                </a:solidFill>
                <a:latin typeface="Noto Sans KR"/>
                <a:ea typeface="Noto Sans KR"/>
              </a:rPr>
              <a:t>강조한 네 부분이 검증에 쓰인다. 신뢰앵커(ServiceDigitalIdentity), 상태값, 개시시각, 상태 이력.</a:t>
            </a:r>
            <a:endParaRPr lang="ko-KR" sz="825"/>
          </a:p>
        </p:txBody>
      </p:sp>
      <p:sp>
        <p:nvSpPr>
          <p:cNvPr id="49" name="Text 49"/>
          <p:cNvSpPr txBox="1"/>
          <p:nvPr/>
        </p:nvSpPr>
        <p:spPr>
          <a:xfrm>
            <a:off x="6695331" y="2893814"/>
            <a:ext cx="4896594" cy="383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ko-KR" sz="900" b="0" i="0" dirty="0">
                <a:solidFill>
                  <a:srgbClr val="4A5568"/>
                </a:solidFill>
                <a:latin typeface="Noto Sans KR"/>
                <a:ea typeface="Noto Sans KR"/>
              </a:rPr>
              <a:t>EU 신뢰목록은 </a:t>
            </a:r>
            <a:r>
              <a:rPr lang="ko-KR" sz="900" b="0" i="0" dirty="0" err="1">
                <a:solidFill>
                  <a:srgbClr val="4A5568"/>
                </a:solidFill>
                <a:latin typeface="Noto Sans KR"/>
                <a:ea typeface="Noto Sans KR"/>
              </a:rPr>
              <a:t>granted와</a:t>
            </a:r>
            <a:r>
              <a:rPr lang="ko-KR" sz="900" b="0" i="0" dirty="0">
                <a:solidFill>
                  <a:srgbClr val="4A5568"/>
                </a:solidFill>
                <a:latin typeface="Noto Sans KR"/>
                <a:ea typeface="Noto Sans KR"/>
              </a:rPr>
              <a:t> </a:t>
            </a:r>
            <a:r>
              <a:rPr lang="ko-KR" sz="900" b="0" i="0" dirty="0" err="1">
                <a:solidFill>
                  <a:srgbClr val="4A5568"/>
                </a:solidFill>
                <a:latin typeface="Noto Sans KR"/>
                <a:ea typeface="Noto Sans KR"/>
              </a:rPr>
              <a:t>withdrawn</a:t>
            </a:r>
            <a:r>
              <a:rPr lang="ko-KR" sz="900" b="0" i="0" dirty="0">
                <a:solidFill>
                  <a:srgbClr val="4A5568"/>
                </a:solidFill>
                <a:latin typeface="Noto Sans KR"/>
                <a:ea typeface="Noto Sans KR"/>
              </a:rPr>
              <a:t> 두 값을 쓴다. 국내 인정제도의 정지 처분을 목록에 반영할지, </a:t>
            </a:r>
            <a:br>
              <a:rPr lang="en-US" altLang="ko-KR" sz="900" b="0" i="0" dirty="0">
                <a:solidFill>
                  <a:srgbClr val="4A5568"/>
                </a:solidFill>
                <a:latin typeface="Noto Sans KR"/>
                <a:ea typeface="Noto Sans KR"/>
              </a:rPr>
            </a:br>
            <a:r>
              <a:rPr lang="ko-KR" sz="900" b="0" i="0" dirty="0">
                <a:solidFill>
                  <a:srgbClr val="4A5568"/>
                </a:solidFill>
                <a:latin typeface="Noto Sans KR"/>
                <a:ea typeface="Noto Sans KR"/>
              </a:rPr>
              <a:t>반영한다면 어떤 값으</a:t>
            </a:r>
            <a:r>
              <a:rPr lang="ko-KR" altLang="ko-KR" sz="900" dirty="0">
                <a:solidFill>
                  <a:srgbClr val="4A5568"/>
                </a:solidFill>
                <a:latin typeface="Noto Sans KR"/>
                <a:ea typeface="Noto Sans KR"/>
              </a:rPr>
              <a:t>로 둘지는 KR-TL 규격에서 정한다.</a:t>
            </a:r>
            <a:endParaRPr lang="ko-KR" altLang="ko-KR" sz="900" dirty="0"/>
          </a:p>
        </p:txBody>
      </p:sp>
      <p:sp>
        <p:nvSpPr>
          <p:cNvPr id="52" name="Text 52"/>
          <p:cNvSpPr txBox="1"/>
          <p:nvPr/>
        </p:nvSpPr>
        <p:spPr>
          <a:xfrm>
            <a:off x="6560344" y="3477816"/>
            <a:ext cx="58653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sz="863" b="1" i="0" dirty="0">
                <a:solidFill>
                  <a:srgbClr val="6AA4D9"/>
                </a:solidFill>
                <a:latin typeface="Noto Sans KR"/>
                <a:ea typeface="Noto Sans KR"/>
              </a:rPr>
              <a:t>서비스 유형</a:t>
            </a:r>
            <a:endParaRPr lang="ko-KR" sz="863" dirty="0">
              <a:solidFill>
                <a:srgbClr val="6AA4D9"/>
              </a:solidFill>
            </a:endParaRPr>
          </a:p>
        </p:txBody>
      </p:sp>
      <p:sp>
        <p:nvSpPr>
          <p:cNvPr id="61" name="XML Code Block">
            <a:extLst>
              <a:ext uri="{FF2B5EF4-FFF2-40B4-BE49-F238E27FC236}">
                <a16:creationId xmlns:a16="http://schemas.microsoft.com/office/drawing/2014/main" id="{D9ED2DAA-DF85-109D-E3F5-A04B56E36632}"/>
              </a:ext>
            </a:extLst>
          </p:cNvPr>
          <p:cNvSpPr txBox="1"/>
          <p:nvPr/>
        </p:nvSpPr>
        <p:spPr>
          <a:xfrm>
            <a:off x="466725" y="1600200"/>
            <a:ext cx="5950744" cy="4021038"/>
          </a:xfrm>
          <a:prstGeom prst="rect">
            <a:avLst/>
          </a:prstGeom>
          <a:solidFill>
            <a:srgbClr val="FAFBFD"/>
          </a:solidFill>
          <a:ln w="9525">
            <a:solidFill>
              <a:srgbClr val="E2E8F0"/>
            </a:solidFill>
          </a:ln>
        </p:spPr>
        <p:txBody>
          <a:bodyPr wrap="none" lIns="133350" tIns="114300" rIns="133350" bIns="11430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TrustServiceStatusList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SchemeInformation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  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TSLSequenceNumber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&gt;12&lt;/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TSLSequenceNumber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  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SchemeTerritory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&gt;KR&lt;/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SchemeTerritory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  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ListIssueDateTime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&gt;2026-08-01T00:00:00Z&lt;/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ListIssueDateTime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  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NextUpdate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&gt;2026-09-01T00:00:00Z&lt;/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NextUpdate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SchemeInformation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TrustServiceProvider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  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TSPName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&gt;○○인증 주식회사&lt;/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TSPName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  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TSPService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    &lt;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ServiceTypeIdentifier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r>
              <a:rPr lang="ko-KR" sz="750" b="0" i="0" dirty="0">
                <a:solidFill>
                  <a:srgbClr val="A0AEC0"/>
                </a:solidFill>
                <a:latin typeface="Consolas"/>
                <a:ea typeface="Consolas"/>
              </a:rPr>
              <a:t>…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Svctype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/CA/QC&lt;/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ServiceTypeIdentifier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    &lt;ServiceName&gt;○○인증 전자서명 인증서비스&lt;/ServiceName&gt;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      &lt;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ServiceDigitalIdentity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        &lt;X509Certificate&gt;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MIIFxz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…&lt;/X509Certificate&gt;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      &lt;/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ServiceDigitalIdentity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      &lt;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ServiceStatus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</a:t>
            </a:r>
            <a:r>
              <a:rPr lang="ko-KR" sz="750" b="1" i="0" dirty="0">
                <a:solidFill>
                  <a:srgbClr val="A0AEC0"/>
                </a:solidFill>
                <a:latin typeface="Consolas"/>
                <a:ea typeface="Consolas"/>
              </a:rPr>
              <a:t>…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/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Svcstatus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/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granted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&lt;/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ServiceStatus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      &lt;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StatusStartingTime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&gt;2024-03-01T00:00:00Z&lt;/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StatusStartingTime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      &lt;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ServiceHistory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</a:t>
            </a:r>
            <a:r>
              <a:rPr lang="ko-KR" sz="750" b="0" i="0" dirty="0">
                <a:solidFill>
                  <a:srgbClr val="A0AEC0"/>
                </a:solidFill>
                <a:latin typeface="Consolas"/>
                <a:ea typeface="Consolas"/>
              </a:rPr>
              <a:t>과거 상태와 각 개시시각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        &lt;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ServiceHistoryInstance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&gt;…&lt;/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ServiceHistoryInstance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      &lt;/</a:t>
            </a:r>
            <a:r>
              <a:rPr lang="ko-KR" sz="750" b="1" i="0" dirty="0" err="1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ServiceHistory</a:t>
            </a:r>
            <a:r>
              <a:rPr lang="ko-KR" sz="750" b="1" i="0" dirty="0">
                <a:solidFill>
                  <a:srgbClr val="1A4A7A"/>
                </a:solidFill>
                <a:highlight>
                  <a:srgbClr val="EBF4FF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  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TSPService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  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TrustServiceProvider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  <a:p>
            <a:pPr marL="0" inden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&lt;/</a:t>
            </a:r>
            <a:r>
              <a:rPr lang="ko-KR" sz="750" b="0" i="0" dirty="0" err="1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TrustServiceStatusList</a:t>
            </a:r>
            <a:r>
              <a:rPr lang="ko-KR" sz="750" b="0" i="0" dirty="0">
                <a:solidFill>
                  <a:srgbClr val="4A5568"/>
                </a:solidFill>
                <a:highlight>
                  <a:srgbClr val="FAFBFD"/>
                </a:highlight>
                <a:latin typeface="Consolas"/>
                <a:ea typeface="Consolas"/>
              </a:rPr>
              <a:t>&gt;</a:t>
            </a:r>
            <a:endParaRPr lang="ko-KR" sz="750" dirty="0">
              <a:latin typeface="Consolas"/>
              <a:ea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1705</Words>
  <Application>Microsoft Office PowerPoint</Application>
  <PresentationFormat>와이드스크린</PresentationFormat>
  <Paragraphs>380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Noto Sans KR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수진 이</dc:creator>
  <cp:lastModifiedBy>용성 김</cp:lastModifiedBy>
  <cp:revision>40</cp:revision>
  <dcterms:created xsi:type="dcterms:W3CDTF">2026-08-24T08:31:37Z</dcterms:created>
  <dcterms:modified xsi:type="dcterms:W3CDTF">2026-08-24T22:34:10Z</dcterms:modified>
</cp:coreProperties>
</file>