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86" r:id="rId4"/>
    <p:sldId id="303" r:id="rId5"/>
    <p:sldId id="260" r:id="rId6"/>
    <p:sldId id="287" r:id="rId7"/>
    <p:sldId id="257" r:id="rId8"/>
    <p:sldId id="302" r:id="rId9"/>
    <p:sldId id="277" r:id="rId10"/>
    <p:sldId id="261" r:id="rId11"/>
    <p:sldId id="285" r:id="rId12"/>
    <p:sldId id="264" r:id="rId13"/>
    <p:sldId id="289" r:id="rId14"/>
    <p:sldId id="291" r:id="rId15"/>
    <p:sldId id="259" r:id="rId16"/>
    <p:sldId id="293" r:id="rId17"/>
    <p:sldId id="262" r:id="rId18"/>
    <p:sldId id="263" r:id="rId19"/>
    <p:sldId id="294" r:id="rId20"/>
    <p:sldId id="265" r:id="rId21"/>
    <p:sldId id="266" r:id="rId22"/>
    <p:sldId id="267" r:id="rId23"/>
    <p:sldId id="269" r:id="rId24"/>
    <p:sldId id="270" r:id="rId25"/>
    <p:sldId id="295" r:id="rId26"/>
    <p:sldId id="296" r:id="rId27"/>
    <p:sldId id="298" r:id="rId28"/>
    <p:sldId id="299" r:id="rId29"/>
    <p:sldId id="300" r:id="rId30"/>
    <p:sldId id="301" r:id="rId3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99" userDrawn="1">
          <p15:clr>
            <a:srgbClr val="A4A3A4"/>
          </p15:clr>
        </p15:guide>
        <p15:guide id="2" orient="horz" pos="1344" userDrawn="1">
          <p15:clr>
            <a:srgbClr val="A4A3A4"/>
          </p15:clr>
        </p15:guide>
        <p15:guide id="3" pos="52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478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656" y="102"/>
      </p:cViewPr>
      <p:guideLst>
        <p:guide pos="499"/>
        <p:guide orient="horz" pos="1344"/>
        <p:guide pos="5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21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8138-D9F8-05BD-3CC2-E637A9C05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9883D-199A-5D8D-C656-2ECB13D49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40F39-CEA9-B900-20C7-3EF7D2F33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C73E8-F694-137D-EF0B-31DCDF356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91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B727A-342D-6D47-1E01-6A5499B1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756AD-0D75-2E59-DBBD-5992B4549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08E50-C231-ED62-259D-022C7873D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9B98E-7B06-1227-1828-612B1B6C5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4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6908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69080"/>
            <a:ext cx="9144000" cy="82296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82296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</a:t>
            </a:r>
            <a:endParaRPr lang="en-US" sz="3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전자인장 출처 검증서비스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D6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기능 구성 및 웨일 연동 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35317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8월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5251269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한국인터넷진흥원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배경과 서비스 개요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명의의 공문서와 명함을 위조한 사기가 지방자치단체와 교육기관에서 반복되고 있으며, 문서를 받는 쪽이 발행 사실을 문서 자체로 확인하지 못한다는 점이 피해의 공통 원인이다.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06640" y="6437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29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5216" y="1963783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지방자치단체 사칭 — 여수시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96594"/>
              </p:ext>
            </p:extLst>
          </p:nvPr>
        </p:nvGraphicFramePr>
        <p:xfrm>
          <a:off x="6637187" y="1847089"/>
          <a:ext cx="2049613" cy="4439781"/>
        </p:xfrm>
        <a:graphic>
          <a:graphicData uri="http://schemas.openxmlformats.org/drawingml/2006/table">
            <a:tbl>
              <a:tblPr/>
              <a:tblGrid>
                <a:gridCol w="409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20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공통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위조 대상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 명의의 공문서와 명함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15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위조 수준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담당자, 연락처, 사업자등록번호, 결제 일정까지 갖춘 형태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 수단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기관 대표전화, 공용 메일 등 사람이 직접 확인하는 절차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문서가 정교해질수록 사람의 확인 절차가 무력해진다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8" name="그림 27">
            <a:extLst>
              <a:ext uri="{FF2B5EF4-FFF2-40B4-BE49-F238E27FC236}">
                <a16:creationId xmlns:a16="http://schemas.microsoft.com/office/drawing/2014/main" id="{431252E4-7540-D0F2-AC5F-084C4BD6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052"/>
            <a:ext cx="2510898" cy="446381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6CCC4B5-C3AE-3544-6E4D-997E7ED9C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918" y="1823052"/>
            <a:ext cx="3415449" cy="44789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3077-0D7C-9CDA-BB0D-0A1C20EC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BE71D7-44AF-88EA-1EF2-B1C4C5E66713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1CA6596-8F91-B3A5-FDF9-AC08BA67DD04}"/>
              </a:ext>
            </a:extLst>
          </p:cNvPr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9625FB-8829-EB11-C713-3BFAACB28B7E}"/>
              </a:ext>
            </a:extLst>
          </p:cNvPr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EFB34D-E268-F7E5-FB69-684BBC4A9ADB}"/>
              </a:ext>
            </a:extLst>
          </p:cNvPr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배경과 서비스 개요</a:t>
            </a:r>
            <a:endParaRPr lang="en-US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E16944-5592-34C3-AC2E-6BB16BE59B95}"/>
              </a:ext>
            </a:extLst>
          </p:cNvPr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DCAAFFB-A48D-5EA3-81AE-1E0008BFE77D}"/>
              </a:ext>
            </a:extLst>
          </p:cNvPr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endParaRPr lang="en-US" sz="1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F44B76-9E87-7DB4-D1FA-D9F72987865D}"/>
              </a:ext>
            </a:extLst>
          </p:cNvPr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D6519F0-98A5-0B14-AE93-A94C2239060D}"/>
              </a:ext>
            </a:extLst>
          </p:cNvPr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556712-E24C-F3E2-228E-E0EEF55150BE}"/>
              </a:ext>
            </a:extLst>
          </p:cNvPr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법인 또는 기관 명의의 인증서로 전자서명된 문서에 대해 서명값과 인증서, 문서 무결성, 신뢰목록을 검증하여 문서의 발행 출처와 위·변조 여부를 확인한다.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D118BBF-8E56-876B-A459-26E869B506E7}"/>
              </a:ext>
            </a:extLst>
          </p:cNvPr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E76EFB-9714-5F48-8420-A7E0F16D3A9D}"/>
              </a:ext>
            </a:extLst>
          </p:cNvPr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554FCFA-5A55-5A1C-AF22-878833386462}"/>
              </a:ext>
            </a:extLst>
          </p:cNvPr>
          <p:cNvSpPr/>
          <p:nvPr/>
        </p:nvSpPr>
        <p:spPr>
          <a:xfrm>
            <a:off x="7406640" y="6437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29</a:t>
            </a:r>
            <a:endParaRPr lang="en-US" sz="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3AE3F8-035C-A977-7A89-9F7B1431235D}"/>
              </a:ext>
            </a:extLst>
          </p:cNvPr>
          <p:cNvSpPr/>
          <p:nvPr/>
        </p:nvSpPr>
        <p:spPr>
          <a:xfrm>
            <a:off x="457200" y="1920240"/>
            <a:ext cx="2560320" cy="932037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B4649A5-8FAF-A90D-2DFE-4A6F852B2A7E}"/>
              </a:ext>
            </a:extLst>
          </p:cNvPr>
          <p:cNvSpPr/>
          <p:nvPr/>
        </p:nvSpPr>
        <p:spPr>
          <a:xfrm>
            <a:off x="457200" y="1920240"/>
            <a:ext cx="256032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BBC9E9B-0CB7-8C37-1874-BA1867374D3D}"/>
              </a:ext>
            </a:extLst>
          </p:cNvPr>
          <p:cNvSpPr/>
          <p:nvPr/>
        </p:nvSpPr>
        <p:spPr>
          <a:xfrm>
            <a:off x="566928" y="2035191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문서가</a:t>
            </a:r>
            <a:r>
              <a:rPr lang="en-US" sz="1600" b="1" dirty="0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변경되었는가</a:t>
            </a:r>
            <a:r>
              <a:rPr lang="en-US" sz="1600" b="1" dirty="0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?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883EED5-168D-27DF-F454-FF86330A6DD2}"/>
              </a:ext>
            </a:extLst>
          </p:cNvPr>
          <p:cNvSpPr/>
          <p:nvPr/>
        </p:nvSpPr>
        <p:spPr>
          <a:xfrm>
            <a:off x="566928" y="25542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무결성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9066854-2BDF-1F6C-74F6-6DECC862A795}"/>
              </a:ext>
            </a:extLst>
          </p:cNvPr>
          <p:cNvSpPr/>
          <p:nvPr/>
        </p:nvSpPr>
        <p:spPr>
          <a:xfrm>
            <a:off x="3291840" y="1920240"/>
            <a:ext cx="2560320" cy="932037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4BC9D79-E1AC-A0DE-891E-8E1CD04CFA68}"/>
              </a:ext>
            </a:extLst>
          </p:cNvPr>
          <p:cNvSpPr/>
          <p:nvPr/>
        </p:nvSpPr>
        <p:spPr>
          <a:xfrm>
            <a:off x="3291840" y="1920240"/>
            <a:ext cx="256032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FE0B455-8331-9C47-6501-60B540F6BBC9}"/>
              </a:ext>
            </a:extLst>
          </p:cNvPr>
          <p:cNvSpPr/>
          <p:nvPr/>
        </p:nvSpPr>
        <p:spPr>
          <a:xfrm>
            <a:off x="3401568" y="2035191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누가</a:t>
            </a:r>
            <a:r>
              <a:rPr lang="en-US" sz="1600" b="1" dirty="0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발행했는가</a:t>
            </a:r>
            <a:r>
              <a:rPr lang="en-US" sz="1600" b="1" dirty="0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?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6D87B9D-D96D-4760-5A23-3F920DAEB13B}"/>
              </a:ext>
            </a:extLst>
          </p:cNvPr>
          <p:cNvSpPr/>
          <p:nvPr/>
        </p:nvSpPr>
        <p:spPr>
          <a:xfrm>
            <a:off x="3401568" y="25542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9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6FB69E2-4E5C-C75B-39B5-4A4116DDE26B}"/>
              </a:ext>
            </a:extLst>
          </p:cNvPr>
          <p:cNvSpPr/>
          <p:nvPr/>
        </p:nvSpPr>
        <p:spPr>
          <a:xfrm>
            <a:off x="6126480" y="1920240"/>
            <a:ext cx="2560320" cy="932037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4C9CD53-23ED-7E55-D90C-2FD9DC4AA4B2}"/>
              </a:ext>
            </a:extLst>
          </p:cNvPr>
          <p:cNvSpPr/>
          <p:nvPr/>
        </p:nvSpPr>
        <p:spPr>
          <a:xfrm>
            <a:off x="6126480" y="1920240"/>
            <a:ext cx="256032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F101AC5-D674-94E9-8F08-C488C579DC22}"/>
              </a:ext>
            </a:extLst>
          </p:cNvPr>
          <p:cNvSpPr/>
          <p:nvPr/>
        </p:nvSpPr>
        <p:spPr>
          <a:xfrm>
            <a:off x="6236208" y="2035191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 err="1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서비스는</a:t>
            </a:r>
            <a:r>
              <a:rPr lang="en-US" sz="1600" b="1" dirty="0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신뢰할</a:t>
            </a:r>
            <a:r>
              <a:rPr lang="en-US" sz="1600" b="1" dirty="0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 수 </a:t>
            </a:r>
            <a:r>
              <a:rPr lang="en-US" sz="1600" b="1" dirty="0" err="1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있는가</a:t>
            </a:r>
            <a:r>
              <a:rPr lang="en-US" sz="1600" b="1" dirty="0">
                <a:solidFill>
                  <a:srgbClr val="1F293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KR" pitchFamily="34" charset="-120"/>
              </a:rPr>
              <a:t>?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16BB3D8-B09E-55E6-0340-6BECDBB896FB}"/>
              </a:ext>
            </a:extLst>
          </p:cNvPr>
          <p:cNvSpPr/>
          <p:nvPr/>
        </p:nvSpPr>
        <p:spPr>
          <a:xfrm>
            <a:off x="6236208" y="25542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</a:t>
            </a:r>
            <a:endParaRPr lang="en-US" sz="9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01884D0-9BA0-1343-7635-BF0A06287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47" y="3016869"/>
            <a:ext cx="6694709" cy="334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3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71528C-5F2B-12F7-8244-63DE775C2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97" y="1944582"/>
            <a:ext cx="7706841" cy="4330716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1A07405F-82A4-7C47-21FB-BAEEFB2A13D6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881D231-933D-3C25-7434-AB285BE54743}"/>
              </a:ext>
            </a:extLst>
          </p:cNvPr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0B6B551-8DD8-2746-27A9-64E1DFBBAE1F}"/>
              </a:ext>
            </a:extLst>
          </p:cNvPr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4D36BEB-DEDF-2EB9-4339-7A6E0A979E89}"/>
              </a:ext>
            </a:extLst>
          </p:cNvPr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신뢰목록 연동</a:t>
            </a:r>
            <a:endParaRPr lang="en-US" sz="8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B1896A3-CCD1-1913-34F6-13D2DE4F05F0}"/>
              </a:ext>
            </a:extLst>
          </p:cNvPr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683309A-DA8A-DDFF-C041-8F349EEFCD72}"/>
              </a:ext>
            </a:extLst>
          </p:cNvPr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구성</a:t>
            </a:r>
            <a:endParaRPr lang="en-US" sz="19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128204C9-6D81-7316-7A22-80F946ABA92D}"/>
              </a:ext>
            </a:extLst>
          </p:cNvPr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5B1FD1E6-C99F-DFC4-9177-ADDAEABD6A07}"/>
              </a:ext>
            </a:extLst>
          </p:cNvPr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FD0BC83-D3C3-F6B2-5E56-B6D4C18C6FD9}"/>
              </a:ext>
            </a:extLst>
          </p:cNvPr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신뢰기관이 최상위 목록을 발행하고, 각 신뢰서비스 제공자의 신뢰목록이 그 아래에 연결되며, 이용기관은 표준 인터페이스를 통해 목록을 조회해 검증한다.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7444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배경과 서비스 개요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요소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 발급, 신뢰목록, 타임스탬프의 신뢰 인프라 위에서 서명 생성과 서명 검증이 이루어지며, 웨일은 검증 영역을 담당한다.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928489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</a:t>
            </a:r>
            <a:r>
              <a:rPr lang="en-US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50" b="1" dirty="0" err="1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</a:t>
            </a:r>
            <a:r>
              <a:rPr lang="en-US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(KISA)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6072" y="2147945"/>
            <a:ext cx="2340000" cy="45720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147945"/>
            <a:ext cx="234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인정사업자 · </a:t>
            </a:r>
            <a:r>
              <a:rPr lang="en-US" sz="8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</a:t>
            </a: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b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85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85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</a:t>
            </a:r>
            <a:r>
              <a:rPr lang="en-US" altLang="ko-KR" sz="85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85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 인증서</a:t>
            </a:r>
            <a:r>
              <a:rPr lang="en-US" altLang="ko-KR" sz="85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50909" y="2275961"/>
            <a:ext cx="274320" cy="201168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03613" y="2147945"/>
            <a:ext cx="2340000" cy="45720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3613" y="2147945"/>
            <a:ext cx="2321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 서비스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26773" y="2147945"/>
            <a:ext cx="2340000" cy="45720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4205" y="2147945"/>
            <a:ext cx="2312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타임스탬프 서비스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10512" y="2632577"/>
            <a:ext cx="219456" cy="13716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2623433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 발급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00896" y="2632577"/>
            <a:ext cx="219456" cy="13716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5216" y="2623433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 배포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451485" y="2632577"/>
            <a:ext cx="219456" cy="13716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5805" y="2623433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서명시각 확인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2806313"/>
            <a:ext cx="8229600" cy="10973"/>
          </a:xfrm>
          <a:prstGeom prst="rect">
            <a:avLst/>
          </a:prstGeom>
          <a:solidFill>
            <a:srgbClr val="9FBBD6"/>
          </a:solidFill>
          <a:ln w="12700">
            <a:solidFill>
              <a:srgbClr val="9FBB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934329"/>
            <a:ext cx="3794760" cy="164592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2970905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r>
              <a:rPr lang="en-US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850" b="1" dirty="0" err="1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영역</a:t>
            </a:r>
            <a:r>
              <a:rPr lang="en-US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이용자 </a:t>
            </a:r>
            <a:r>
              <a:rPr lang="en-US" altLang="ko-KR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r>
              <a:rPr lang="ko-KR" altLang="en-US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</a:t>
            </a:r>
            <a:r>
              <a:rPr lang="en-US" altLang="ko-KR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</a:t>
            </a:r>
            <a:r>
              <a:rPr lang="en-US" altLang="ko-KR" sz="85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0120" y="3208649"/>
            <a:ext cx="2880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3208649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평문 문서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0" y="3565265"/>
            <a:ext cx="201168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3665849"/>
            <a:ext cx="2880360" cy="3474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" y="3665849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서명모듈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0" y="4022465"/>
            <a:ext cx="201168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0120" y="4123049"/>
            <a:ext cx="2880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4123049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서명문 생성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2934329"/>
            <a:ext cx="3794760" cy="1645920"/>
          </a:xfrm>
          <a:prstGeom prst="rect">
            <a:avLst/>
          </a:prstGeom>
          <a:solidFill>
            <a:srgbClr val="EAF2FA"/>
          </a:solidFill>
          <a:ln w="12700">
            <a:solidFill>
              <a:srgbClr val="9FBB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2970905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영역 (웨일)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03520" y="3208649"/>
            <a:ext cx="2880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0952" y="3208649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서명문 수신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29400" y="3565265"/>
            <a:ext cx="201168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03520" y="3665849"/>
            <a:ext cx="2880360" cy="347472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0952" y="3665849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검증모듈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29400" y="4022465"/>
            <a:ext cx="201168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0" y="4123049"/>
            <a:ext cx="2880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30952" y="4123049"/>
            <a:ext cx="2825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 표시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52544" y="3637115"/>
            <a:ext cx="438912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rgbClr val="6BA82E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629026"/>
              </p:ext>
            </p:extLst>
          </p:nvPr>
        </p:nvGraphicFramePr>
        <p:xfrm>
          <a:off x="457200" y="4708265"/>
          <a:ext cx="8229600" cy="15361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구성 요소</a:t>
                      </a:r>
                      <a:endParaRPr lang="en-US" sz="8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</a:t>
                      </a:r>
                      <a:endParaRPr lang="en-US" sz="8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실증 범위</a:t>
                      </a:r>
                      <a:endParaRPr lang="en-US" sz="8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인정사업자·인증서 서비스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법인·기관 명의 인증서를 발급한다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체계 활용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 서비스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인증서비스 정보와 상태를 서명된 목록으로 배포한다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규격 정의와 배포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타임스탬프 서비스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서명시각을 증명한다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측 확인 대상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서명모듈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평문 문서에 전자서명을 결합해 서명문을 생성한다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참조 구현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검증모듈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서명문을 검증하고 발행 출처를 확인한다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웨일 연동 대상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신뢰목록 연동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KR-TL </a:t>
            </a:r>
            <a:r>
              <a:rPr lang="en-US" sz="190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KR-TL은 국내 신뢰서비스 제공자와 그 서비스의 식별정보·상태·인증서를 서명된 기계판독 목록으로 제공하는 신뢰목록 체계이며, 최상위 목록과 개별 신뢰목록의 계층 구조로 구성한다.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909432"/>
              </p:ext>
            </p:extLst>
          </p:nvPr>
        </p:nvGraphicFramePr>
        <p:xfrm>
          <a:off x="457200" y="213629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명칭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KR-TL  (Korea Trust List)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정의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국내 신뢰서비스 제공자와 서비스의 식별정보, 상태, 인증서를 수록한 서명된 기계판독 목록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발행 주체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신뢰기관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구조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최상위 목록(LOTL)이 개별 신뢰목록(TL)을 지시하는 계층 구조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수록 대상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인증서 기반 서비스와 디지털 신원 기반 서비스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이용 방식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주체가 목록을 내려받아 목록 서명을 확인한 뒤 대조에 사용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926881"/>
            <a:ext cx="2560320" cy="118872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926881"/>
            <a:ext cx="256032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" y="5045753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기계판독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" y="5320073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게시 내용을 확인하는 방식이 아니라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소프트웨어가 목록을 해석해 판정한다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3291840" y="4926881"/>
            <a:ext cx="2560320" cy="118872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91840" y="4926881"/>
            <a:ext cx="256032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19856" y="5045753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배포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419856" y="5320073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자체에 서명을 결합해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목록의 출처와 무결성을 확인한다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6126480" y="4926881"/>
            <a:ext cx="2560320" cy="118872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26480" y="4926881"/>
            <a:ext cx="256032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54496" y="5045753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구조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54496" y="5320073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신뢰서비스 유형이 늘어나면</a:t>
            </a:r>
            <a:endParaRPr lang="en-US" sz="8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목록을 추가해 수용한다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신뢰목록 연동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KR-TL 구성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신뢰기관이 최상위 목록을 발행하고, 각 신뢰서비스 제공자의 신뢰목록이 그 아래에 연결되며, 이용기관은 표준 인터페이스를 통해 목록을 조회해 검증한다.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5806440" cy="310896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920240"/>
            <a:ext cx="5751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신뢰기관</a:t>
            </a: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(KISA)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8980" y="2249424"/>
            <a:ext cx="182880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359152"/>
            <a:ext cx="5349240" cy="27432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359152"/>
            <a:ext cx="529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LOTL   최상위 목록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33856" y="2670048"/>
            <a:ext cx="164592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79776"/>
            <a:ext cx="1335024" cy="237744"/>
          </a:xfrm>
          <a:prstGeom prst="rect">
            <a:avLst/>
          </a:prstGeom>
          <a:solidFill>
            <a:srgbClr val="EAF2FA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779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054096"/>
            <a:ext cx="1335024" cy="2926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054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Root CA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133856" y="3383280"/>
            <a:ext cx="164592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93008"/>
            <a:ext cx="13350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공동 인증서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금융 인증서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06040" y="2670048"/>
            <a:ext cx="164592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20824" y="2779776"/>
            <a:ext cx="1335024" cy="237744"/>
          </a:xfrm>
          <a:prstGeom prst="rect">
            <a:avLst/>
          </a:prstGeom>
          <a:solidFill>
            <a:srgbClr val="EAF2FA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8256" y="2779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20824" y="3054096"/>
            <a:ext cx="1335024" cy="2926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8256" y="3054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RCA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3383280"/>
            <a:ext cx="164592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0824" y="3493008"/>
            <a:ext cx="13350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8256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인증서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78224" y="2670048"/>
            <a:ext cx="164592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93008" y="2779776"/>
            <a:ext cx="1335024" cy="237744"/>
          </a:xfrm>
          <a:prstGeom prst="rect">
            <a:avLst/>
          </a:prstGeom>
          <a:solidFill>
            <a:srgbClr val="EAF2FA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2779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93008" y="3054096"/>
            <a:ext cx="1335024" cy="2926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054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조폐공사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78224" y="3383280"/>
            <a:ext cx="164592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93008" y="3493008"/>
            <a:ext cx="13350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신분증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(노드)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550408" y="2670048"/>
            <a:ext cx="164592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65192" y="2779776"/>
            <a:ext cx="1335024" cy="237744"/>
          </a:xfrm>
          <a:prstGeom prst="rect">
            <a:avLst/>
          </a:prstGeom>
          <a:solidFill>
            <a:srgbClr val="EAF2FA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92624" y="2779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65192" y="3054096"/>
            <a:ext cx="1335024" cy="2926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92624" y="30540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DID TA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50408" y="3383280"/>
            <a:ext cx="164592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65192" y="3493008"/>
            <a:ext cx="13350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92624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졸업 증명 등 VC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(노드)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216152" y="4059936"/>
            <a:ext cx="4416552" cy="10973"/>
          </a:xfrm>
          <a:prstGeom prst="rect">
            <a:avLst/>
          </a:prstGeom>
          <a:solidFill>
            <a:srgbClr val="5C93C6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68980" y="4078224"/>
            <a:ext cx="182880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88436" y="405993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70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645920" y="4187952"/>
            <a:ext cx="3429000" cy="274320"/>
          </a:xfrm>
          <a:prstGeom prst="rect">
            <a:avLst/>
          </a:prstGeom>
          <a:solidFill>
            <a:srgbClr val="F5F9FC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73352" y="4187952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KR-TL(XML)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68980" y="4480560"/>
            <a:ext cx="182880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45920" y="4590288"/>
            <a:ext cx="3429000" cy="274320"/>
          </a:xfrm>
          <a:prstGeom prst="rect">
            <a:avLst/>
          </a:prstGeom>
          <a:solidFill>
            <a:srgbClr val="F5F9FC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73352" y="459028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 err="1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</a:t>
            </a:r>
            <a:r>
              <a:rPr lang="ko-KR" alt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</a:t>
            </a: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</a:t>
            </a:r>
            <a:r>
              <a:rPr lang="en-US" altLang="ko-KR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</a:t>
            </a:r>
            <a:r>
              <a:rPr lang="en-US" altLang="ko-KR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68980" y="4882896"/>
            <a:ext cx="182880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45920" y="4992624"/>
            <a:ext cx="3429000" cy="310896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73352" y="4992624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</a:t>
            </a: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</a:t>
            </a:r>
            <a:r>
              <a:rPr lang="ko-KR" altLang="en-US" sz="9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</a:t>
            </a:r>
            <a:r>
              <a:rPr lang="en-US" altLang="ko-KR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46520" y="1920240"/>
            <a:ext cx="2240280" cy="2093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46520" y="1920240"/>
            <a:ext cx="2240280" cy="310896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74536" y="192024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</a:t>
            </a:r>
            <a:r>
              <a:rPr lang="en-US" sz="95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검증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74536" y="2304288"/>
            <a:ext cx="1984248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PKI 서명 검증</a:t>
            </a:r>
            <a:endParaRPr lang="en-US" sz="82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chemeClr val="bg1">
                    <a:lumMod val="8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PKI 인증서 체인 검증</a:t>
            </a:r>
            <a:endParaRPr lang="en-US" sz="82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chemeClr val="bg1">
                    <a:lumMod val="8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 조회 및 검증</a:t>
            </a:r>
            <a:endParaRPr lang="en-US" sz="82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chemeClr val="bg1">
                    <a:lumMod val="8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VC 검증 및 신원 확인</a:t>
            </a:r>
            <a:endParaRPr lang="en-US" sz="82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chemeClr val="bg1">
                    <a:lumMod val="8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DID · DID VP 검증</a:t>
            </a:r>
            <a:endParaRPr lang="en-US" sz="820" dirty="0">
              <a:solidFill>
                <a:schemeClr val="bg1">
                  <a:lumMod val="85000"/>
                </a:schemeClr>
              </a:solidFill>
            </a:endParaRPr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20" dirty="0">
                <a:solidFill>
                  <a:schemeClr val="bg1">
                    <a:lumMod val="8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DID Doc 조회</a:t>
            </a:r>
            <a:endParaRPr lang="en-US" sz="820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71" name="Table 0"/>
          <p:cNvGraphicFramePr>
            <a:graphicFrameLocks noGrp="1"/>
          </p:cNvGraphicFramePr>
          <p:nvPr/>
        </p:nvGraphicFramePr>
        <p:xfrm>
          <a:off x="457200" y="5431536"/>
          <a:ext cx="8229600" cy="86664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계층</a:t>
                      </a:r>
                      <a:endParaRPr lang="en-US" sz="7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구성 요소</a:t>
                      </a:r>
                      <a:endParaRPr lang="en-US" sz="7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역할</a:t>
                      </a:r>
                      <a:endParaRPr lang="en-US" sz="7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최상위 목록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LOTL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개별 신뢰목록의 위치와 서명 </a:t>
                      </a:r>
                      <a:r>
                        <a:rPr 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정보를</a:t>
                      </a: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지시한다</a:t>
                      </a:r>
                      <a:r>
                        <a:rPr lang="en-US" altLang="ko-KR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ko-KR" alt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미정</a:t>
                      </a:r>
                      <a:r>
                        <a:rPr lang="en-US" altLang="ko-KR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KR-TL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신뢰서비스 제공자와 서비스의 상태, </a:t>
                      </a:r>
                      <a:r>
                        <a:rPr 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인증서를</a:t>
                      </a: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수록한다</a:t>
                      </a: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</a:t>
                      </a:r>
                      <a:r>
                        <a:rPr lang="ko-KR" alt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초안</a:t>
                      </a:r>
                      <a:r>
                        <a:rPr lang="en-US" altLang="ko-KR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신뢰서비스 제공자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KISA Root CA, 플랫폼 RCA, </a:t>
                      </a:r>
                      <a:r>
                        <a:rPr lang="en-US" sz="730" strike="sngStrike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조폐공사, DID TA</a:t>
                      </a:r>
                      <a:endParaRPr lang="en-US" sz="730" strike="sngStrike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인증서와 검증가능 </a:t>
                      </a:r>
                      <a:r>
                        <a:rPr 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자격증명을</a:t>
                      </a: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발급한다</a:t>
                      </a: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(KISA)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접점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</a:t>
                      </a: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ko-KR" alt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서</a:t>
                      </a:r>
                      <a:r>
                        <a:rPr 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비스</a:t>
                      </a:r>
                      <a:r>
                        <a:rPr 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</a:t>
                      </a:r>
                      <a:r>
                        <a:rPr lang="ko-KR" alt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브라우저 </a:t>
                      </a:r>
                      <a:r>
                        <a:rPr lang="en-US" altLang="ko-KR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 </a:t>
                      </a:r>
                      <a:r>
                        <a:rPr lang="ko-KR" altLang="en-US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네이버 </a:t>
                      </a:r>
                      <a:r>
                        <a:rPr lang="ko-KR" altLang="en-US" sz="730" dirty="0" err="1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웨일</a:t>
                      </a:r>
                      <a:r>
                        <a:rPr lang="en-US" altLang="ko-KR" sz="7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en-US" sz="7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이용기관의 검증 요청을 받아 신뢰검증을 수행한다</a:t>
                      </a:r>
                      <a:endParaRPr lang="en-US" sz="105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직사각형 71">
            <a:extLst>
              <a:ext uri="{FF2B5EF4-FFF2-40B4-BE49-F238E27FC236}">
                <a16:creationId xmlns:a16="http://schemas.microsoft.com/office/drawing/2014/main" id="{95821CAB-A542-6BC1-C5B1-8A2FAF7D0BD7}"/>
              </a:ext>
            </a:extLst>
          </p:cNvPr>
          <p:cNvSpPr/>
          <p:nvPr/>
        </p:nvSpPr>
        <p:spPr>
          <a:xfrm>
            <a:off x="3451860" y="2761488"/>
            <a:ext cx="2866644" cy="1252728"/>
          </a:xfrm>
          <a:prstGeom prst="rect">
            <a:avLst/>
          </a:prstGeom>
          <a:solidFill>
            <a:schemeClr val="bg1">
              <a:lumMod val="85000"/>
              <a:alpha val="6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622C-F98A-29EA-9ABD-0BE91E5C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6A92BC5-7192-D4BE-DF99-DF89FCD07410}"/>
              </a:ext>
            </a:extLst>
          </p:cNvPr>
          <p:cNvSpPr/>
          <p:nvPr/>
        </p:nvSpPr>
        <p:spPr>
          <a:xfrm>
            <a:off x="0" y="0"/>
            <a:ext cx="9144000" cy="406908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DEB71BB-5306-AEE7-8A7B-2CB8F1EBACE8}"/>
              </a:ext>
            </a:extLst>
          </p:cNvPr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3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570546D-FB73-3E6C-3211-51B563A112FA}"/>
              </a:ext>
            </a:extLst>
          </p:cNvPr>
          <p:cNvSpPr/>
          <p:nvPr/>
        </p:nvSpPr>
        <p:spPr>
          <a:xfrm>
            <a:off x="640080" y="1463040"/>
            <a:ext cx="82296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8078DF2-077F-C3C9-F874-5BEE5B096F0B}"/>
              </a:ext>
            </a:extLst>
          </p:cNvPr>
          <p:cNvSpPr/>
          <p:nvPr/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</a:t>
            </a:r>
            <a:r>
              <a:rPr lang="ko-KR" alt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검증</a:t>
            </a: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en-US" sz="30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</a:t>
            </a: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153893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검증도구 연동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검증 구성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웨일은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PDF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문서를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열 때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(SDK)를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호출</a:t>
            </a: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검증한다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결과에 대해 사용자가 신뢰할 판단의 근거를 표시한다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2647769"/>
            <a:ext cx="3794760" cy="2761488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84345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647769"/>
            <a:ext cx="3794760" cy="2761488"/>
          </a:xfrm>
          <a:prstGeom prst="rect">
            <a:avLst/>
          </a:prstGeom>
          <a:solidFill>
            <a:srgbClr val="EAF2FA"/>
          </a:solidFill>
          <a:ln w="12700">
            <a:solidFill>
              <a:srgbClr val="9FBB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2684345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</a:t>
            </a: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(SDK)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" y="2958665"/>
            <a:ext cx="3063240" cy="402336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958665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열기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0" y="3388433"/>
            <a:ext cx="219456" cy="13716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553025"/>
            <a:ext cx="3063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3553025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포함 확인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3982793"/>
            <a:ext cx="219456" cy="13716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147385"/>
            <a:ext cx="3063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147385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요청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0" y="4577153"/>
            <a:ext cx="219456" cy="13716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741745"/>
            <a:ext cx="3063240" cy="402336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741745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표시 · 상세 근거 제공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66360" y="3892231"/>
            <a:ext cx="3154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4001959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–"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· 무결성 검증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–"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 경로 · 상태 검증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–"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 대조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–"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발행주체 식별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05072" y="4247969"/>
            <a:ext cx="1115568" cy="201168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05072" y="4037657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요청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005072" y="4842329"/>
            <a:ext cx="1115568" cy="201168"/>
          </a:xfrm>
          <a:prstGeom prst="lef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5061785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 · 판단 근거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배경과 서비스 개요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</a:t>
            </a:r>
            <a:r>
              <a:rPr lang="en-US" sz="190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</a:t>
            </a: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(1/2)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웨일에서 PDF를 열면 별도 조작 없이 문서의 발행 출처와 무결성을 확인한다.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pic>
        <p:nvPicPr>
          <p:cNvPr id="43" name="Canvas 버전">
            <a:hlinkClick r:id="" action="ppaction://media"/>
            <a:extLst>
              <a:ext uri="{FF2B5EF4-FFF2-40B4-BE49-F238E27FC236}">
                <a16:creationId xmlns:a16="http://schemas.microsoft.com/office/drawing/2014/main" id="{7F751EB0-DAED-097B-394E-98E5D6009C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2163" y="1844675"/>
            <a:ext cx="7559675" cy="4252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00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9F760-37B3-3893-2787-CC5011419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87E7DC-0651-AE09-764F-7775F934C130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8C3E67-5202-4403-4500-59FD6C035CD2}"/>
              </a:ext>
            </a:extLst>
          </p:cNvPr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4FB89C-8B83-83F2-D02B-DD591B0F8508}"/>
              </a:ext>
            </a:extLst>
          </p:cNvPr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8DB78D-7DD7-0B71-458A-7F1FB64D3D45}"/>
              </a:ext>
            </a:extLst>
          </p:cNvPr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배경과 서비스 개요</a:t>
            </a:r>
            <a:endParaRPr lang="en-US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6DB7EE-94ED-4F13-3BA6-428E96013BAB}"/>
              </a:ext>
            </a:extLst>
          </p:cNvPr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3909E0-B12D-A257-016C-F8119E05B446}"/>
              </a:ext>
            </a:extLst>
          </p:cNvPr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</a:t>
            </a:r>
            <a:r>
              <a:rPr lang="en-US" sz="190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90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</a:t>
            </a: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(1/2)</a:t>
            </a:r>
            <a:endParaRPr lang="en-US" sz="1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CAFC79D-A598-930C-3FA5-ED1EDFB473BD}"/>
              </a:ext>
            </a:extLst>
          </p:cNvPr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81E6AEF-EFD3-4605-B3EB-132C8D3DC4BF}"/>
              </a:ext>
            </a:extLst>
          </p:cNvPr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78B7DF8-7936-39DB-7730-D4AC1A89D689}"/>
              </a:ext>
            </a:extLst>
          </p:cNvPr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웨일에서 PDF를 열면 별도 조작 없이 문서의 발행 출처와 무결성을 확인한다.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2635FD7-47F2-4B55-A5B5-161C5CC707FE}"/>
              </a:ext>
            </a:extLst>
          </p:cNvPr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7899FC3-BD64-F65C-F254-0F12A10CEAB7}"/>
              </a:ext>
            </a:extLst>
          </p:cNvPr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pic>
        <p:nvPicPr>
          <p:cNvPr id="15" name="싸이드바 버전">
            <a:hlinkClick r:id="" action="ppaction://media"/>
            <a:extLst>
              <a:ext uri="{FF2B5EF4-FFF2-40B4-BE49-F238E27FC236}">
                <a16:creationId xmlns:a16="http://schemas.microsoft.com/office/drawing/2014/main" id="{6B446CD7-0DE6-0388-29DC-A7044A2176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8755" y="1844675"/>
            <a:ext cx="7569926" cy="425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1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 · 기능 설명자료  |  검증 기능 구성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프로세스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문서에서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전자서명 포함 여부를 확인하고 서명 데이터와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</a:t>
            </a: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검증한다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</a:rPr>
              <a:t>서명이 검증되면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</a:rPr>
              <a:t>인증서로 부터 정보를 추출하여 사용자에게 문서의 진위 정보를 제공한다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</a:rPr>
              <a:t>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기반 전자인장 출처 검증서비스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45181" y="2011680"/>
            <a:ext cx="1548000" cy="53035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9068" y="2011680"/>
            <a:ext cx="1490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입력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8817" y="2011680"/>
            <a:ext cx="1548000" cy="53035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5272" y="2011680"/>
            <a:ext cx="1568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구조 해석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72453" y="2011680"/>
            <a:ext cx="1548000" cy="53035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0308" y="2011680"/>
            <a:ext cx="13773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포함 여부 확인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86089" y="2011680"/>
            <a:ext cx="1548000" cy="53035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2544" y="2011680"/>
            <a:ext cx="1516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데이터 추출</a:t>
            </a:r>
            <a:endParaRPr lang="en-US" sz="85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4523D0FA-8242-3917-AC22-405251466D2B}"/>
              </a:ext>
            </a:extLst>
          </p:cNvPr>
          <p:cNvSpPr/>
          <p:nvPr/>
        </p:nvSpPr>
        <p:spPr>
          <a:xfrm>
            <a:off x="1503104" y="3621749"/>
            <a:ext cx="201168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8CFA0CC8-265E-053E-7C5D-22421DCF91E2}"/>
              </a:ext>
            </a:extLst>
          </p:cNvPr>
          <p:cNvSpPr/>
          <p:nvPr/>
        </p:nvSpPr>
        <p:spPr>
          <a:xfrm>
            <a:off x="1530536" y="3621749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서명자 인증서</a:t>
            </a:r>
            <a:endParaRPr lang="en-US" sz="95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C22D6C75-2BF3-802B-29BC-E130543D4016}"/>
              </a:ext>
            </a:extLst>
          </p:cNvPr>
          <p:cNvSpPr/>
          <p:nvPr/>
        </p:nvSpPr>
        <p:spPr>
          <a:xfrm>
            <a:off x="3569648" y="3749765"/>
            <a:ext cx="256032" cy="219456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83F19755-848D-30B6-416A-4EC42E2ACB90}"/>
              </a:ext>
            </a:extLst>
          </p:cNvPr>
          <p:cNvSpPr/>
          <p:nvPr/>
        </p:nvSpPr>
        <p:spPr>
          <a:xfrm>
            <a:off x="3880544" y="3621749"/>
            <a:ext cx="201168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43CBA14D-8922-3A3A-6F28-604F8F29D508}"/>
              </a:ext>
            </a:extLst>
          </p:cNvPr>
          <p:cNvSpPr/>
          <p:nvPr/>
        </p:nvSpPr>
        <p:spPr>
          <a:xfrm>
            <a:off x="3907976" y="3621749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인증서</a:t>
            </a:r>
            <a:endParaRPr lang="en-US" sz="950" dirty="0"/>
          </a:p>
        </p:txBody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B4EAC106-56E0-8F26-BEBC-A91A4136FEF7}"/>
              </a:ext>
            </a:extLst>
          </p:cNvPr>
          <p:cNvSpPr/>
          <p:nvPr/>
        </p:nvSpPr>
        <p:spPr>
          <a:xfrm>
            <a:off x="5947088" y="3749765"/>
            <a:ext cx="256032" cy="219456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7DEA8A19-78E4-EEE9-BA5F-7EAF9FEDC631}"/>
              </a:ext>
            </a:extLst>
          </p:cNvPr>
          <p:cNvSpPr/>
          <p:nvPr/>
        </p:nvSpPr>
        <p:spPr>
          <a:xfrm>
            <a:off x="6257984" y="3621749"/>
            <a:ext cx="201168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F1C6FC85-8BE3-DF65-8556-0688B3F3D706}"/>
              </a:ext>
            </a:extLst>
          </p:cNvPr>
          <p:cNvSpPr/>
          <p:nvPr/>
        </p:nvSpPr>
        <p:spPr>
          <a:xfrm>
            <a:off x="6285416" y="3621749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앵커</a:t>
            </a:r>
            <a:endParaRPr lang="en-US" sz="95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0820145-06F2-E6E8-729E-FF301A86F7DB}"/>
              </a:ext>
            </a:extLst>
          </p:cNvPr>
          <p:cNvSpPr/>
          <p:nvPr/>
        </p:nvSpPr>
        <p:spPr>
          <a:xfrm>
            <a:off x="1503104" y="4206965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검증  →  유효기간 · 키 용도 · 기본 제약  →  폐지 상태 확인 (CRL · OCSP)</a:t>
            </a:r>
            <a:endParaRPr lang="en-US" sz="900" dirty="0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F7DF0C0A-38F6-8FBC-331D-EA56F955FA69}"/>
              </a:ext>
            </a:extLst>
          </p:cNvPr>
          <p:cNvSpPr/>
          <p:nvPr/>
        </p:nvSpPr>
        <p:spPr>
          <a:xfrm>
            <a:off x="3034942" y="2950614"/>
            <a:ext cx="429768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6EA3E-6825-AC73-588D-C65B0A9DD3F7}"/>
              </a:ext>
            </a:extLst>
          </p:cNvPr>
          <p:cNvSpPr/>
          <p:nvPr/>
        </p:nvSpPr>
        <p:spPr>
          <a:xfrm>
            <a:off x="3062374" y="2950614"/>
            <a:ext cx="4270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 서명 무결성 검증</a:t>
            </a:r>
            <a:endParaRPr lang="en-US" sz="950" dirty="0"/>
          </a:p>
        </p:txBody>
      </p:sp>
      <p:sp>
        <p:nvSpPr>
          <p:cNvPr id="85" name="Shape 12">
            <a:extLst>
              <a:ext uri="{FF2B5EF4-FFF2-40B4-BE49-F238E27FC236}">
                <a16:creationId xmlns:a16="http://schemas.microsoft.com/office/drawing/2014/main" id="{7B92091D-CDA7-08CA-982B-B019F7C169FE}"/>
              </a:ext>
            </a:extLst>
          </p:cNvPr>
          <p:cNvSpPr/>
          <p:nvPr/>
        </p:nvSpPr>
        <p:spPr>
          <a:xfrm>
            <a:off x="1171306" y="4841379"/>
            <a:ext cx="1920240" cy="128016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0AC82966-E311-71B7-6160-E9245E87CE64}"/>
              </a:ext>
            </a:extLst>
          </p:cNvPr>
          <p:cNvSpPr/>
          <p:nvPr/>
        </p:nvSpPr>
        <p:spPr>
          <a:xfrm>
            <a:off x="1198738" y="4841379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서명자 인증서</a:t>
            </a:r>
            <a:endParaRPr lang="en-US" sz="1000" dirty="0"/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558381D6-B511-6893-BCC0-E4230968024C}"/>
              </a:ext>
            </a:extLst>
          </p:cNvPr>
          <p:cNvSpPr/>
          <p:nvPr/>
        </p:nvSpPr>
        <p:spPr>
          <a:xfrm>
            <a:off x="3146410" y="4905387"/>
            <a:ext cx="201168" cy="182880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91" name="Shape 15">
            <a:extLst>
              <a:ext uri="{FF2B5EF4-FFF2-40B4-BE49-F238E27FC236}">
                <a16:creationId xmlns:a16="http://schemas.microsoft.com/office/drawing/2014/main" id="{C53F2A72-652D-7563-EEC9-F9BF7A33D0EE}"/>
              </a:ext>
            </a:extLst>
          </p:cNvPr>
          <p:cNvSpPr/>
          <p:nvPr/>
        </p:nvSpPr>
        <p:spPr>
          <a:xfrm>
            <a:off x="3402442" y="4795659"/>
            <a:ext cx="2340864" cy="402336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3" name="Text 16">
            <a:extLst>
              <a:ext uri="{FF2B5EF4-FFF2-40B4-BE49-F238E27FC236}">
                <a16:creationId xmlns:a16="http://schemas.microsoft.com/office/drawing/2014/main" id="{D204CE54-4D95-449D-68CF-92B06805E048}"/>
              </a:ext>
            </a:extLst>
          </p:cNvPr>
          <p:cNvSpPr/>
          <p:nvPr/>
        </p:nvSpPr>
        <p:spPr>
          <a:xfrm>
            <a:off x="3493882" y="4795659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주체 식별정보   </a:t>
            </a: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법인·기관명, 사업자 식별정보</a:t>
            </a:r>
            <a:endParaRPr lang="en-US" sz="850" dirty="0"/>
          </a:p>
        </p:txBody>
      </p:sp>
      <p:sp>
        <p:nvSpPr>
          <p:cNvPr id="95" name="Shape 17">
            <a:extLst>
              <a:ext uri="{FF2B5EF4-FFF2-40B4-BE49-F238E27FC236}">
                <a16:creationId xmlns:a16="http://schemas.microsoft.com/office/drawing/2014/main" id="{7C765EA7-CBCD-2745-D117-7FDE88BF93B0}"/>
              </a:ext>
            </a:extLst>
          </p:cNvPr>
          <p:cNvSpPr/>
          <p:nvPr/>
        </p:nvSpPr>
        <p:spPr>
          <a:xfrm>
            <a:off x="3146410" y="5380875"/>
            <a:ext cx="201168" cy="182880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97" name="Shape 18">
            <a:extLst>
              <a:ext uri="{FF2B5EF4-FFF2-40B4-BE49-F238E27FC236}">
                <a16:creationId xmlns:a16="http://schemas.microsoft.com/office/drawing/2014/main" id="{C7320FFF-AE88-5CD1-B763-F8CB627AEF36}"/>
              </a:ext>
            </a:extLst>
          </p:cNvPr>
          <p:cNvSpPr/>
          <p:nvPr/>
        </p:nvSpPr>
        <p:spPr>
          <a:xfrm>
            <a:off x="3402442" y="5271147"/>
            <a:ext cx="2340864" cy="402336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9" name="Text 19">
            <a:extLst>
              <a:ext uri="{FF2B5EF4-FFF2-40B4-BE49-F238E27FC236}">
                <a16:creationId xmlns:a16="http://schemas.microsoft.com/office/drawing/2014/main" id="{930C580D-683F-FEA6-0669-3D7A80227AE1}"/>
              </a:ext>
            </a:extLst>
          </p:cNvPr>
          <p:cNvSpPr/>
          <p:nvPr/>
        </p:nvSpPr>
        <p:spPr>
          <a:xfrm>
            <a:off x="3493882" y="5271147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 정책   </a:t>
            </a: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발급 유형과 용도 제한</a:t>
            </a:r>
            <a:endParaRPr lang="en-US" sz="850" dirty="0"/>
          </a:p>
        </p:txBody>
      </p:sp>
      <p:sp>
        <p:nvSpPr>
          <p:cNvPr id="101" name="Shape 20">
            <a:extLst>
              <a:ext uri="{FF2B5EF4-FFF2-40B4-BE49-F238E27FC236}">
                <a16:creationId xmlns:a16="http://schemas.microsoft.com/office/drawing/2014/main" id="{3757931D-20E8-FF20-B659-3DDCB755B4A6}"/>
              </a:ext>
            </a:extLst>
          </p:cNvPr>
          <p:cNvSpPr/>
          <p:nvPr/>
        </p:nvSpPr>
        <p:spPr>
          <a:xfrm>
            <a:off x="3146410" y="5856363"/>
            <a:ext cx="201168" cy="182880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03" name="Shape 21">
            <a:extLst>
              <a:ext uri="{FF2B5EF4-FFF2-40B4-BE49-F238E27FC236}">
                <a16:creationId xmlns:a16="http://schemas.microsoft.com/office/drawing/2014/main" id="{9E08318E-9E59-9A28-E324-B90604187B0D}"/>
              </a:ext>
            </a:extLst>
          </p:cNvPr>
          <p:cNvSpPr/>
          <p:nvPr/>
        </p:nvSpPr>
        <p:spPr>
          <a:xfrm>
            <a:off x="3402442" y="5746635"/>
            <a:ext cx="2340864" cy="402336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05" name="Text 22">
            <a:extLst>
              <a:ext uri="{FF2B5EF4-FFF2-40B4-BE49-F238E27FC236}">
                <a16:creationId xmlns:a16="http://schemas.microsoft.com/office/drawing/2014/main" id="{FD5F5571-029F-7BF5-EC96-9D5FD435AFEA}"/>
              </a:ext>
            </a:extLst>
          </p:cNvPr>
          <p:cNvSpPr/>
          <p:nvPr/>
        </p:nvSpPr>
        <p:spPr>
          <a:xfrm>
            <a:off x="3493882" y="5746635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발급 서비스   </a:t>
            </a: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신뢰목록의 서비스 정보와 연결</a:t>
            </a:r>
            <a:endParaRPr lang="en-US" sz="850" dirty="0"/>
          </a:p>
        </p:txBody>
      </p:sp>
      <p:sp>
        <p:nvSpPr>
          <p:cNvPr id="107" name="Shape 23">
            <a:extLst>
              <a:ext uri="{FF2B5EF4-FFF2-40B4-BE49-F238E27FC236}">
                <a16:creationId xmlns:a16="http://schemas.microsoft.com/office/drawing/2014/main" id="{5C4CA8A7-51CD-54E9-AE8A-D98584D6478F}"/>
              </a:ext>
            </a:extLst>
          </p:cNvPr>
          <p:cNvSpPr/>
          <p:nvPr/>
        </p:nvSpPr>
        <p:spPr>
          <a:xfrm>
            <a:off x="5797296" y="5344299"/>
            <a:ext cx="237744" cy="219456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09" name="Shape 24">
            <a:extLst>
              <a:ext uri="{FF2B5EF4-FFF2-40B4-BE49-F238E27FC236}">
                <a16:creationId xmlns:a16="http://schemas.microsoft.com/office/drawing/2014/main" id="{11E27D95-756E-C8EC-FF10-DB88A9C69A62}"/>
              </a:ext>
            </a:extLst>
          </p:cNvPr>
          <p:cNvSpPr/>
          <p:nvPr/>
        </p:nvSpPr>
        <p:spPr>
          <a:xfrm>
            <a:off x="6108192" y="5024259"/>
            <a:ext cx="2578608" cy="86868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11" name="Text 25">
            <a:extLst>
              <a:ext uri="{FF2B5EF4-FFF2-40B4-BE49-F238E27FC236}">
                <a16:creationId xmlns:a16="http://schemas.microsoft.com/office/drawing/2014/main" id="{2A5524F8-2DEF-D527-7C32-F09BB38B9265}"/>
              </a:ext>
            </a:extLst>
          </p:cNvPr>
          <p:cNvSpPr/>
          <p:nvPr/>
        </p:nvSpPr>
        <p:spPr>
          <a:xfrm>
            <a:off x="6135624" y="5024259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발행주체 정보 확정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기관명 · 발급 서비스 · 근거</a:t>
            </a:r>
            <a:endParaRPr lang="en-US" sz="950" dirty="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23034C07-972E-E066-81E2-64E8E45F2882}"/>
              </a:ext>
            </a:extLst>
          </p:cNvPr>
          <p:cNvSpPr/>
          <p:nvPr/>
        </p:nvSpPr>
        <p:spPr>
          <a:xfrm>
            <a:off x="1091185" y="2778034"/>
            <a:ext cx="7695763" cy="17749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Shape 17">
            <a:extLst>
              <a:ext uri="{FF2B5EF4-FFF2-40B4-BE49-F238E27FC236}">
                <a16:creationId xmlns:a16="http://schemas.microsoft.com/office/drawing/2014/main" id="{FEA72C10-24C4-A5CF-6B4F-56CDA57A3860}"/>
              </a:ext>
            </a:extLst>
          </p:cNvPr>
          <p:cNvSpPr/>
          <p:nvPr/>
        </p:nvSpPr>
        <p:spPr>
          <a:xfrm>
            <a:off x="2828540" y="2169751"/>
            <a:ext cx="256032" cy="219456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20" name="Shape 17">
            <a:extLst>
              <a:ext uri="{FF2B5EF4-FFF2-40B4-BE49-F238E27FC236}">
                <a16:creationId xmlns:a16="http://schemas.microsoft.com/office/drawing/2014/main" id="{FEF8C34D-E6F4-DFB7-E419-6D3A8342D4CF}"/>
              </a:ext>
            </a:extLst>
          </p:cNvPr>
          <p:cNvSpPr/>
          <p:nvPr/>
        </p:nvSpPr>
        <p:spPr>
          <a:xfrm>
            <a:off x="4842176" y="2194277"/>
            <a:ext cx="256032" cy="219456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22" name="Shape 17">
            <a:extLst>
              <a:ext uri="{FF2B5EF4-FFF2-40B4-BE49-F238E27FC236}">
                <a16:creationId xmlns:a16="http://schemas.microsoft.com/office/drawing/2014/main" id="{1B693749-BEDE-F37A-AE99-CCECD7266B1D}"/>
              </a:ext>
            </a:extLst>
          </p:cNvPr>
          <p:cNvSpPr/>
          <p:nvPr/>
        </p:nvSpPr>
        <p:spPr>
          <a:xfrm>
            <a:off x="6773517" y="2169751"/>
            <a:ext cx="256032" cy="219456"/>
          </a:xfrm>
          <a:prstGeom prst="right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8878D901-B1A2-5541-D918-38B6105D158C}"/>
              </a:ext>
            </a:extLst>
          </p:cNvPr>
          <p:cNvSpPr/>
          <p:nvPr/>
        </p:nvSpPr>
        <p:spPr>
          <a:xfrm>
            <a:off x="252549" y="2058422"/>
            <a:ext cx="763524" cy="4690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PDF</a:t>
            </a:r>
            <a:endParaRPr lang="ko-KR" altLang="en-US" sz="1200" dirty="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9A5CE898-3A71-D3DE-2DD2-916DE40440FB}"/>
              </a:ext>
            </a:extLst>
          </p:cNvPr>
          <p:cNvSpPr/>
          <p:nvPr/>
        </p:nvSpPr>
        <p:spPr>
          <a:xfrm>
            <a:off x="222296" y="3484234"/>
            <a:ext cx="763524" cy="4690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SDK</a:t>
            </a:r>
            <a:endParaRPr lang="ko-KR" altLang="en-US" sz="1200" dirty="0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E06D0088-D8A8-B10A-F04F-4E489280BB82}"/>
              </a:ext>
            </a:extLst>
          </p:cNvPr>
          <p:cNvSpPr/>
          <p:nvPr/>
        </p:nvSpPr>
        <p:spPr>
          <a:xfrm>
            <a:off x="258318" y="5257209"/>
            <a:ext cx="763524" cy="4690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150" dirty="0"/>
              <a:t>Whale</a:t>
            </a:r>
            <a:endParaRPr lang="ko-KR" altLang="en-US" sz="1200" spc="-150" dirty="0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40D5B6F4-DF1C-5DD3-A4D7-B519FFF003F7}"/>
              </a:ext>
            </a:extLst>
          </p:cNvPr>
          <p:cNvSpPr/>
          <p:nvPr/>
        </p:nvSpPr>
        <p:spPr>
          <a:xfrm>
            <a:off x="1091185" y="1884848"/>
            <a:ext cx="7695763" cy="8200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0C09B44-0652-6F9F-BBB7-7775D13CA6DA}"/>
              </a:ext>
            </a:extLst>
          </p:cNvPr>
          <p:cNvSpPr/>
          <p:nvPr/>
        </p:nvSpPr>
        <p:spPr>
          <a:xfrm>
            <a:off x="1101636" y="4662702"/>
            <a:ext cx="7697068" cy="16115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CF10C9C-3733-52C0-F0E1-CE896355A592}"/>
              </a:ext>
            </a:extLst>
          </p:cNvPr>
          <p:cNvSpPr/>
          <p:nvPr/>
        </p:nvSpPr>
        <p:spPr>
          <a:xfrm>
            <a:off x="0" y="0"/>
            <a:ext cx="9144000" cy="406908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4BE9CDA-F079-7C9B-7AB0-DCCB348A9208}"/>
              </a:ext>
            </a:extLst>
          </p:cNvPr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3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22A7F86-2B3D-2888-82FF-B3B3653C90EF}"/>
              </a:ext>
            </a:extLst>
          </p:cNvPr>
          <p:cNvSpPr/>
          <p:nvPr/>
        </p:nvSpPr>
        <p:spPr>
          <a:xfrm>
            <a:off x="640080" y="1463040"/>
            <a:ext cx="82296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960D36E-EF3A-50EF-531F-4B9E0FD43E46}"/>
              </a:ext>
            </a:extLst>
          </p:cNvPr>
          <p:cNvSpPr/>
          <p:nvPr/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</a:t>
            </a:r>
            <a:r>
              <a:rPr lang="en-US" sz="30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신뢰체계</a:t>
            </a: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(사용자 설정)</a:t>
            </a:r>
            <a:endParaRPr lang="en-US" sz="3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CBCE60-79E0-0FF3-22AD-537E4E7A7146}"/>
              </a:ext>
            </a:extLst>
          </p:cNvPr>
          <p:cNvSpPr txBox="1"/>
          <p:nvPr/>
        </p:nvSpPr>
        <p:spPr>
          <a:xfrm>
            <a:off x="439271" y="4984376"/>
            <a:ext cx="219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첨부 </a:t>
            </a:r>
            <a:r>
              <a:rPr lang="en-US" altLang="ko-KR" dirty="0"/>
              <a:t>: </a:t>
            </a:r>
            <a:r>
              <a:rPr lang="ko-KR" altLang="en-US" dirty="0"/>
              <a:t>와이어프레임</a:t>
            </a:r>
          </a:p>
        </p:txBody>
      </p:sp>
    </p:spTree>
    <p:extLst>
      <p:ext uri="{BB962C8B-B14F-4D97-AF65-F5344CB8AC3E}">
        <p14:creationId xmlns:p14="http://schemas.microsoft.com/office/powerpoint/2010/main" val="2791776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기능 개요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사용자관리 화면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설정의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보안설정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항목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아래에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배치</a:t>
            </a: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신뢰체계를 관리한다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1920240" cy="420624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96596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설정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95728" y="2075322"/>
            <a:ext cx="146304" cy="201900"/>
          </a:xfrm>
          <a:prstGeom prst="rightArrow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1965960"/>
            <a:ext cx="1920240" cy="420624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96596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보호 및 보안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98848" y="2075322"/>
            <a:ext cx="146304" cy="201900"/>
          </a:xfrm>
          <a:prstGeom prst="rightArrow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965960"/>
            <a:ext cx="1920240" cy="420624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196596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검증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01968" y="2075322"/>
            <a:ext cx="146304" cy="201900"/>
          </a:xfrm>
          <a:prstGeom prst="rightArrow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965960"/>
            <a:ext cx="1920240" cy="420624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1965960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신뢰체계 관리</a:t>
            </a:r>
            <a:endParaRPr lang="en-US" sz="9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CB91AD5-E901-A7D0-F24F-344895247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597" y="2531987"/>
            <a:ext cx="5124855" cy="3785404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FF0ADB64-0D92-CA4C-B757-4D8DF5EB48CD}"/>
              </a:ext>
            </a:extLst>
          </p:cNvPr>
          <p:cNvSpPr/>
          <p:nvPr/>
        </p:nvSpPr>
        <p:spPr>
          <a:xfrm>
            <a:off x="1443318" y="3523703"/>
            <a:ext cx="934122" cy="2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전자서명 검증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화면 설계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1 — 신뢰체계 관리 기본 화면 (WF-01)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검증 기능의 사용 여부와 현재 적용 중인 신뢰목록 상태를 한 화면에서 확인한다.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45253"/>
            <a:ext cx="3383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B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227549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신뢰체계 관리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" y="2483581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검증에 사용할 신뢰목록과 갱신 상태를 관리합니다.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85216" y="2812765"/>
            <a:ext cx="3127248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" y="2904205"/>
            <a:ext cx="3127248" cy="310896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904205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검증 사용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82112" y="2968213"/>
            <a:ext cx="512064" cy="182880"/>
          </a:xfrm>
          <a:prstGeom prst="rect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968213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5216" y="3306541"/>
            <a:ext cx="312724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" y="3397981"/>
            <a:ext cx="566928" cy="201168"/>
          </a:xfrm>
          <a:prstGeom prst="rect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397981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35024" y="3397981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신뢰목록을 사용하고 있습니다.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4944" y="3708877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신뢰목록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83664" y="3708877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KR-TL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4944" y="3955765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버전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883664" y="3955765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v0000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94944" y="4202653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발행 시각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83664" y="4202653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YYYY-MM-DD HH:MM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94944" y="4449541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유효기간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83664" y="4449541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YYYY-MM-DD 까지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94944" y="4696429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확인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883664" y="4696429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YYYY-MM-DD HH:MM · 성공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85216" y="5117053"/>
            <a:ext cx="1517904" cy="310896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117053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업데이트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194560" y="5117053"/>
            <a:ext cx="15179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21992" y="5117053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정보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5216" y="5519389"/>
            <a:ext cx="3127248" cy="27432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" y="5519389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설정   ˅</a:t>
            </a:r>
            <a:endParaRPr lang="en-US" sz="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387104"/>
              </p:ext>
            </p:extLst>
          </p:nvPr>
        </p:nvGraphicFramePr>
        <p:xfrm>
          <a:off x="4023360" y="2145253"/>
          <a:ext cx="4663440" cy="373075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영역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구성요소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표시 내용 및 동작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화면 상단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제목 · 설명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기능명과 한 줄 설명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 설정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검증 사용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검증 기능을 켜거나 끄는 토글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상태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종합 상태 배지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 / 확인 필요 / 사용할 수 없음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상태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신뢰목록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목록명 또는 운영 주체가 정한 표시명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상태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버전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검증에 사용 중인 목록의 버전 식별자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상태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발행 시각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목록이 발행된 시각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상태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유효기간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목록의 적용 가능 기간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상태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마지막 확인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마지막 갱신 시도 시각과 결과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지금 업데이트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주소에서 최신 목록을 확인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작업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상세 정보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서명, 발행자, 적용 주소 등 세부 정보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고급 설정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펼침 영역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주소 변경 및 기본값 복원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화면 설계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2 — 고급 설정: 신뢰목록 배포 주소 (WF-02)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실증에서 사용할 신뢰목록 배포 주소를 확인하거나 지정하며, 입력한 주소는 적용 전까지 현재 검증 기준에 영향을 주지 않는다.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187549"/>
              </p:ext>
            </p:extLst>
          </p:nvPr>
        </p:nvGraphicFramePr>
        <p:xfrm>
          <a:off x="457200" y="2145255"/>
          <a:ext cx="8229600" cy="263347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영역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구성요소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표시 내용 및 동작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 설정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주소 입력창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HTTPS 형식의 신뢰목록 배포 주소 입력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 설정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적용 주소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 검증에 사용 중인 목록을 받은 주소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 설정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주소 안내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실증 기본값인지 사용자 지정값인지 구분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 설정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 확인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 주소의 연결 및 응답 형식 확인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하단 작업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 내용을 버리고 이전 화면으로 이동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하단 작업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검증이 완료된 경우에만 새 주소와 목록 적용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보조 작업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기본값 복원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실증 기본 배포 주소로 되돌림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751295"/>
            <a:ext cx="8229600" cy="118872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" y="4806159"/>
            <a:ext cx="7973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규칙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6" y="5025615"/>
            <a:ext cx="7973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 주소만 허용하는 것을 원칙으로 하며 앞뒤 공백은 제거한다.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주소의 형식 오류와 서버 연결 오류를 구분한다.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리디렉션 허용 범위, 파일 크기 제한, 응답 시간 제한은 연동 명세에서 정한다.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화면 설계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 적용 절차와 확인 대화상자 (WF-03)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 확인, 목록 내려받기, 형식·서명·유효기간 검증을 거쳐 사용자 확인을 받은 뒤에 새 목록을 적용한다.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145255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145255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주소 입력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59152" y="2520159"/>
            <a:ext cx="201168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20743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620743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주소 및 연결 확인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9152" y="2995647"/>
            <a:ext cx="201168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96231"/>
            <a:ext cx="3840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096231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 내려받기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59152" y="3471135"/>
            <a:ext cx="201168" cy="91440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571719"/>
            <a:ext cx="3840480" cy="36576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571719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형식 · 서명 · 유효기간 검증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62456" y="3974055"/>
            <a:ext cx="201168" cy="109728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74136" y="3974055"/>
            <a:ext cx="201168" cy="109728"/>
          </a:xfrm>
          <a:prstGeom prst="downArrow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38647"/>
            <a:ext cx="1828800" cy="603504"/>
          </a:xfrm>
          <a:prstGeom prst="rect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4138647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확인 후 적용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0" y="4138647"/>
            <a:ext cx="1828800" cy="603504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87752" y="4138647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중단 · 기존 목록 유지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2145255"/>
            <a:ext cx="3931920" cy="2258568"/>
          </a:xfrm>
          <a:prstGeom prst="rect">
            <a:avLst/>
          </a:prstGeom>
          <a:solidFill>
            <a:srgbClr val="FFFFFF"/>
          </a:solidFill>
          <a:ln w="12700">
            <a:solidFill>
              <a:srgbClr val="9FBB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145255"/>
            <a:ext cx="3931920" cy="310896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145255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확인 대화상자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01184" y="2520159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신뢰목록을 변경하시겠습니까?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01184" y="2794479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신뢰목록을 변경하면 이후 전자서명 문서는 새 목록을 기준으로 검증됩니다. 목록 발행자와 유효기간을 확인한 후 적용해 주세요.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01184" y="3361407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A6B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정보 : 목록 표시명 · 발행자 · 목록 버전 · 발행 시각 및 유효기간 · 배포 주소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01184" y="3891759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3891759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03136" y="3891759"/>
            <a:ext cx="1755648" cy="310896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3891759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및 적용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915887"/>
            <a:ext cx="8229600" cy="100584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" y="4970751"/>
            <a:ext cx="7973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원칙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" y="5190207"/>
            <a:ext cx="7973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검증이 완료된 경우에만 적용 단추를 활성화한다.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실패한 목록을 임시로 적용하는 우회 기능은 제공하지 않는다.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화면 설계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 — 신뢰목록 상세 정보 (WF-04)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적용 중인 신뢰목록의 출처와 검증 근거를 확인한다.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106884"/>
              </p:ext>
            </p:extLst>
          </p:nvPr>
        </p:nvGraphicFramePr>
        <p:xfrm>
          <a:off x="457200" y="2145255"/>
          <a:ext cx="8229600" cy="26883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표시 항목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정보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표시명, 규격 버전, 목록 버전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발행 정보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발행자, 발행 시각, 다음 갱신 또는 만료 시각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정보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전자서명 상태, 서명 인증서 정보, 검증 시각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정보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주소, 최초 적용 시각, 마지막 정상 갱신 시각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저장 정보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온라인 또는 저장 목록 사용 여부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진단 정보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마지막 갱신 결과, 오류코드, 오류 발생 시각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934175"/>
            <a:ext cx="8229600" cy="109728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" y="4989039"/>
            <a:ext cx="7973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 원칙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6" y="5208495"/>
            <a:ext cx="7973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 전체 필드는 한 번에 펼치지 않고 요약 정보와 [인증서 보기]로 구분한다.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주소는 전체 값을 확인하고 복사할 수 있게 한다.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버전과 검증 시각은 문제 재현 및 실증 결과 확인에 사용할 수 있게 표시한다.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화면 설계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4 — 기본값 복원 (WF-08)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지정 배포 주소를 제거하고 실증 기본 신뢰체계로 되돌린다.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54221"/>
            <a:ext cx="67665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FBB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154221"/>
            <a:ext cx="6766560" cy="310896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6736" y="2154221"/>
            <a:ext cx="6510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 복원 확인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53312" y="2547413"/>
            <a:ext cx="6437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신뢰체계 설정을 기본값으로 복원하시겠습니까?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53312" y="2858309"/>
            <a:ext cx="6437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지정 배포 주소가 삭제되고 실증 기본 주소의 신뢰목록을 다시 확인합니다.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목록은 기본 목록이 정상 확인될 때까지 유지됩니다.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5237"/>
            <a:ext cx="1463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5C9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3425237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425237"/>
            <a:ext cx="1463040" cy="310896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425237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 복원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218594"/>
              </p:ext>
            </p:extLst>
          </p:nvPr>
        </p:nvGraphicFramePr>
        <p:xfrm>
          <a:off x="457200" y="4165901"/>
          <a:ext cx="8229600" cy="16824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처리 결과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목록 검증 성공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주소와 목록을 적용한다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목록 검증 실패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정상 목록을 유지하고 복원 실패를 안내한다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저장 목록 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검증 상태를 신뢰목록 확인 불가로 표시한다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상태 및 오류 설계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 상태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신뢰목록의 상태를 아홉 가지로 구분하고, 상태별 사용자 표시 문구와 허용 동작을 정의한다.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434093"/>
              </p:ext>
            </p:extLst>
          </p:nvPr>
        </p:nvGraphicFramePr>
        <p:xfrm>
          <a:off x="457200" y="2145254"/>
          <a:ext cx="8229600" cy="38404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의미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 표시 문구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허용 동작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형식·서명·유효기간 확인 완료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신뢰목록이 정상적으로 적용되었습니다.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문서 검증, 업데이트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업데이트 확인 중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목록 확인 진행 중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 업데이트를 확인하고 있습니다.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취소, 백그라운드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이전 목록 사용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갱신 실패, 유효한 기존 목록 유지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마지막으로 정상 확인된 목록을 사용하고 있습니다.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문서 검증, 다시 시도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만료 임박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만료 시각 도래 예정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신뢰목록의 유효기간이 곧 끝납니다.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업데이트, 상세 보기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목록의 유효기간 종료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사용할 수 있는 신뢰목록이 없습니다.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업데이트, 주소 변경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 오류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목록의 전자서명 검증 실패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신뢰목록의 발행 정보를 확인할 수 없습니다.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차단, 기존 유지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형식 오류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 규격으로 해석 불가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지원하지 않는 신뢰목록 형식입니다.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차단, 주소 확인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연결 오류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서버 연결 또는 시간 초과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주소에 연결할 수 없습니다.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다시 시도, 주소 확인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저장 목록 없음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 적용된 목록이 없음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검증에 필요한 신뢰목록이 없습니다.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 설정, 업데이트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상태 및 오류 설계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검증 화면과의 연계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신뢰목록의 상태에 따라 PDF 검증 결과의 표시 범위를 달리하되, 문서 열람은 항상 유지한다.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277478"/>
              </p:ext>
            </p:extLst>
          </p:nvPr>
        </p:nvGraphicFramePr>
        <p:xfrm>
          <a:off x="457200" y="2136290"/>
          <a:ext cx="8229600" cy="3505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 상태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PDF 검증 결과 처리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신뢰목록을 포함한 전체 검증을 수행한다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이전 목록 사용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저장 목록으로 검증하고 목록 기준시각을 함께 표시한다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만료 · 저장 목록 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서명값과 문서 무결성은 확인하되 신뢰목록 항목은 확인 불가로 표시한다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 · 형식 오류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오류 목록은 적용하지 않고 기존 정상 목록을 사용한다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기능 꺼짐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자동 검증을 수행하지 않으며 다시 켤 수 있는 안내를 표시한다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상태 및 오류 설계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동작별 처리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동작마다 시스템 처리와 완료 표시를 정의해 설정 변경의 결과를 명확히 전달한다.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4991"/>
              </p:ext>
            </p:extLst>
          </p:nvPr>
        </p:nvGraphicFramePr>
        <p:xfrm>
          <a:off x="457200" y="2145257"/>
          <a:ext cx="8229600" cy="38162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 동작</a:t>
                      </a:r>
                      <a:endParaRPr lang="en-US" sz="8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시스템 처리</a:t>
                      </a:r>
                      <a:endParaRPr lang="en-US" sz="8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완료 표시</a:t>
                      </a:r>
                      <a:endParaRPr lang="en-US" sz="88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검증 켜기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가능한 저장 목록 확인 후 자동 검증 활성화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검증이 켜졌습니다.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검증 끄기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자동 검증 중지, 저장 목록과 설정은 유지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검증이 꺼졌습니다.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지금 업데이트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배포 주소 접속, 목록 다운로드 및 검증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최신 목록 적용 또는 실패 사유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 확인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연결, 응답 및 목록 기본 형식 확인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주소를 확인했습니다.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주소 적용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서명·유효기간 검증 후 확인 대화상자 표시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신뢰목록이 적용되었습니다.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기본값 복원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주소 목록을 검증한 후 적용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 신뢰체계로 복원되었습니다.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0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상세 정보 보기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목록과 마지막 갱신 정보 표시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별도 상세 화면 또는 패널</a:t>
                      </a:r>
                      <a:endParaRPr lang="en-US" sz="83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요구사항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설정값과 인터페이스 요구사항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웨일이 저장하고 관리할 설정값과 검증도구에서 전달받을 상태값을 구분해 정의한다.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1447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웨일이 관리할 설정값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997817"/>
              </p:ext>
            </p:extLst>
          </p:nvPr>
        </p:nvGraphicFramePr>
        <p:xfrm>
          <a:off x="457200" y="2437324"/>
          <a:ext cx="3931920" cy="3452505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설정값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기능 사용 여부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자동 검증 활성화 상태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기본/사용자 지정 구분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배포 주소의 출처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 배포 주소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목록을 확인할 HTTPS 주소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마지막 갱신 시각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마지막 갱신 시도 시각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마지막 정상 갱신 시각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목록이 정상 적용된 시각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2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목록 식별자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목록명, 버전 또는 해시 등 구현 식별값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754880" y="21447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검증도구에서 받을 상태값</a:t>
            </a:r>
            <a:endParaRPr lang="en-US" sz="10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355501"/>
              </p:ext>
            </p:extLst>
          </p:nvPr>
        </p:nvGraphicFramePr>
        <p:xfrm>
          <a:off x="4754880" y="2437323"/>
          <a:ext cx="3931920" cy="345250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5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상태값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설명</a:t>
                      </a:r>
                      <a:endParaRPr lang="en-US" sz="82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검증 상태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정상, 만료, 서명 오류, 형식 오류 등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버전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적용 목록의 버전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발행 · 만료 시각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유효성 판단 정보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5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목록 발행자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사용자에게 표시할 발행 주체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5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적용 주소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현재 목록을 받은 배포 주소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갱신 결과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성공 여부와 사용자용 오류 분류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진단 정보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7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실증 및 문제 분석을 위한 상세 오류코드</a:t>
                      </a:r>
                      <a:endParaRPr lang="en-US" sz="77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관리(사용자 설정) · 기능 설명서  |  요구사항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· 개인정보 및 접근성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적용 전 검증을 원칙으로 하고, 화면과 기록에 남기는 정보를 최소화한다.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 신뢰체계 관리 (사용자 설정)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45256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45256"/>
            <a:ext cx="4023360" cy="310896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145256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개인정보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5216" y="2529304"/>
            <a:ext cx="376732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전자서명과 유효기간을 확인하기 전에는 검증 기준으로 적용하지 않는다</a:t>
            </a:r>
            <a:endParaRPr lang="en-US" sz="88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 실패 시 마지막으로 정상 검증된 목록을 유지한다</a:t>
            </a:r>
            <a:endParaRPr lang="en-US" sz="88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다운로드 요청에 PDF 내용, 파일명, 서명자 개인정보를 포함하지 않는다</a:t>
            </a:r>
            <a:endParaRPr lang="en-US" sz="88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주소에 인증정보가 포함된 경우 화면과 로그에서 마스킹한다</a:t>
            </a:r>
            <a:endParaRPr lang="en-US" sz="88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로그에는 목록 버전, 갱신 시각, 오류 분류만 남긴다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663440" y="2145256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145256"/>
            <a:ext cx="4023360" cy="310896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145256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및 표현 기준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91456" y="2529304"/>
            <a:ext cx="376732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정상, 주의, 오류를 색상만으로 전달하지 않는다</a:t>
            </a:r>
            <a:endParaRPr lang="en-US" sz="88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토글과 버튼에 키보드 포커스와 스크린리더용 이름을 제공한다</a:t>
            </a:r>
            <a:endParaRPr lang="en-US" sz="88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상태에는 텍스트를 함께 제공한다</a:t>
            </a:r>
            <a:endParaRPr lang="en-US" sz="88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날짜와 시각은 지역 설정에 맞추고 상세 정보에서 시간대를 확인한다</a:t>
            </a:r>
            <a:endParaRPr lang="en-US" sz="88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88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용어보다 이해 가능한 문구를 우선한다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7200" y="5162776"/>
            <a:ext cx="8229600" cy="82296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5217640"/>
            <a:ext cx="7973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정책 연계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" y="5437096"/>
            <a:ext cx="7973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지정 주소와 변경 이력의 보관 범위는 실증 운영정책에 따른다. 관리자 정책으로 주소가 고정된 환경에서는 입력창을 비활성화하고 정책 적용 상태를 표시한다.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5B8AA54-8FDE-D742-038D-8C17D5E09BDC}"/>
              </a:ext>
            </a:extLst>
          </p:cNvPr>
          <p:cNvSpPr/>
          <p:nvPr/>
        </p:nvSpPr>
        <p:spPr>
          <a:xfrm>
            <a:off x="0" y="0"/>
            <a:ext cx="9144000" cy="4069080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E7EDACA-CC99-B7D8-1767-7B76208A0F61}"/>
              </a:ext>
            </a:extLst>
          </p:cNvPr>
          <p:cNvSpPr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3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077772B2-7E87-884B-C4CA-58F211AD72E7}"/>
              </a:ext>
            </a:extLst>
          </p:cNvPr>
          <p:cNvSpPr/>
          <p:nvPr/>
        </p:nvSpPr>
        <p:spPr>
          <a:xfrm>
            <a:off x="640080" y="1463040"/>
            <a:ext cx="822960" cy="45720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E8043EF-276F-0C81-4078-EC0A14339184}"/>
              </a:ext>
            </a:extLst>
          </p:cNvPr>
          <p:cNvSpPr/>
          <p:nvPr/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논의 사항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963655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· 네이버 검토 요청 사항  |  검토 요청 ①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개발물 현황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개발물은 전자서명 생성·검증과 신뢰목록 처리 기능을 구현한 Java 프로토타입이며, 외부 통신 기능을 포함하지 않는다.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검토 요청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06640" y="6437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9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673378"/>
              </p:ext>
            </p:extLst>
          </p:nvPr>
        </p:nvGraphicFramePr>
        <p:xfrm>
          <a:off x="457200" y="2136290"/>
          <a:ext cx="822960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현황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언어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Java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범위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전자서명 생성, 전자서명 검증, 신뢰목록 처리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성격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기능과 흐름 확인을 위한 프로토타입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외부 통신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실행 형태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독립 실행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51373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513730"/>
            <a:ext cx="4023360" cy="310896"/>
          </a:xfrm>
          <a:prstGeom prst="rect">
            <a:avLst/>
          </a:prstGeom>
          <a:solidFill>
            <a:srgbClr val="6BA82E"/>
          </a:solidFill>
          <a:ln w="12700">
            <a:solidFill>
              <a:srgbClr val="6BA8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5216" y="4513730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프로토타입에서 확인한 것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5216" y="4897778"/>
            <a:ext cx="37673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서명 생성과 검증 로직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무결성 판단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 해석과 인증서 대조 로직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451373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4513730"/>
            <a:ext cx="4023360" cy="310896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91456" y="4513730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확인하지 못한 것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91456" y="4897778"/>
            <a:ext cx="37673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 상태의 실시간 확인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신뢰목록의 수신과 갱신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환경에서의 동작과 성능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· 네이버 검토 요청 사항  |  검토 요청 ②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 경로 검증 서비스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인정사업자가 발급한 인증서의 경로와 폐지 상태를 확인하는 기능은 외부 통신을 수반하므로, 구현 방식과 주체를 별도로 협의한다.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검토 요청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06640" y="6437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020824"/>
            <a:ext cx="7973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상태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" y="2240280"/>
            <a:ext cx="79735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프로토타입은 외부 통신을 포함하지 않아 인증서의 폐지 상태를 확인하지 않는다. 실증에서는 인정사업자 인증서의 경로 구성과 상태 확인이 필요하다.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17520"/>
            <a:ext cx="4023360" cy="310896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01752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1안. 클라이언트 직접 조회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검증도구가 단말에서 인증서 상태 정보를 직접 조회한다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03504" y="3822192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단말 밖으로 문서 정보를 보내지 않는다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인증서 발급기관별 응답 시간에 영향을 받는다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상태에서 확인 불가로 처리한다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017520"/>
            <a:ext cx="4023360" cy="310896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3017520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2안. 별도 검증 서비스 경유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9744" y="338328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80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경로와 상태 확인을 수행하는 서비스를 두고 결과를 전달받는다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 응답을 모아 처리해 응답 시간을 관리한다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구축과 운영 주체를 정해야 한다</a:t>
            </a:r>
            <a:endParaRPr lang="en-US" sz="850" dirty="0"/>
          </a:p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 정보의 범위를 제한해야 한다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5166360"/>
            <a:ext cx="8229600" cy="82296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5221224"/>
            <a:ext cx="7973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협의 항목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" y="5440680"/>
            <a:ext cx="7973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주체와 배치 위치, 응답 성능 목표, 전달 정보의 범위, 오프라인 상태의 처리 기준을 협의로 정한다.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· 네이버 검토 요청 사항  |  검토 요청 ③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검증도구의 역할과 기능 범위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검증도구가 담당할 기능과 웨일이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담당할</a:t>
            </a: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50" b="1" dirty="0" err="1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</a:t>
            </a:r>
            <a:r>
              <a:rPr lang="ko-KR" alt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범위를 결정해야 한다</a:t>
            </a:r>
            <a:r>
              <a:rPr lang="en-US" altLang="ko-KR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검토 요청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06640" y="6437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9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5978"/>
              </p:ext>
            </p:extLst>
          </p:nvPr>
        </p:nvGraphicFramePr>
        <p:xfrm>
          <a:off x="457200" y="2145252"/>
          <a:ext cx="8229600" cy="39263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검증도구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웨일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서명 구조 해석과 추출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확정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문서 무결성과 서명값 판단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확정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인증서 경로 구성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확정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인증서 상태 확인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협의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협의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협의 필요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 수신과 저장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협의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협의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협의 필요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신뢰목록 대조와 상태 판정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확정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 상태와 근거 생성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확정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결과 화면 표시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확정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6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설정 관리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협의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담당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협의 필요</a:t>
                      </a:r>
                      <a:endParaRPr lang="en-US" sz="8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0080" y="5669280"/>
            <a:ext cx="7918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협의 필요 항목 세 가지는 외부 통신과 저장 위치가 관련되어 웨일 구조에 대한 확인이 선행된다.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· 네이버 검토 요청 사항  |  검토 요청 ③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 제공 방식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소스를 제공하고 네이버가 구현하는 방식과, 웨일에 맞는 라이브러리 모듈을 구현해 제공하는 방식을 검토한다.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검토 요청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06640" y="6437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45254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45254"/>
            <a:ext cx="4023360" cy="329184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14525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1안. 참고 소스 제공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" y="2538446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측이 검증 로직의 참고 소스를 제공하고 네이버가 웨일에 맞게 구현한다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" y="312366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제공물   </a:t>
            </a: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로직 참고 소스, 규격 문서, 시험 문서 세트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145254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145254"/>
            <a:ext cx="4023360" cy="329184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214525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2안. 라이브러리 모듈 제공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2538446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측이 웨일에서 사용할 수 있는 형태로 모듈을 구현해 제공한다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9744" y="312366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제공물   </a:t>
            </a:r>
            <a:r>
              <a:rPr lang="en-US" sz="8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 가능한 라이브러리 모듈, 연동 가이드, 시험 문서 세트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27678"/>
              </p:ext>
            </p:extLst>
          </p:nvPr>
        </p:nvGraphicFramePr>
        <p:xfrm>
          <a:off x="457200" y="3882614"/>
          <a:ext cx="8229600" cy="23042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1안 참고 소스 제공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2안 라이브러리 모듈 제공</a:t>
                      </a:r>
                      <a:endParaRPr lang="en-US" sz="9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웨일 연동 구현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네이버 수행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KISA 측 제공 후 네이버 연동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형태 변환 부담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네이버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KISA 측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검증 로직 일관성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구현에 따라 차이 발생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동일 모듈로 유지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결함 대응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구현 주체가 각각 대응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KISA 측이 모듈 단위로 대응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 필요 사항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웨일 구조에 맞는 구현 범위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웨일이 수용 가능한 모듈 형태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3500" marR="63500" marT="25400" marB="25400" anchor="ctr">
                    <a:lnL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5196"/>
            <a:ext cx="9144000" cy="50292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310896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 한국인터넷진흥원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0"/>
            <a:ext cx="512064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D2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· 네이버 검토 요청 사항  |  검토 요청 ③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685800"/>
            <a:ext cx="68580" cy="347472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8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 방식 결정을 위한 확인 사항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EAF2FA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52144"/>
            <a:ext cx="54864" cy="603504"/>
          </a:xfrm>
          <a:prstGeom prst="rect">
            <a:avLst/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152144"/>
            <a:ext cx="7882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3A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 방식은 웨일이 수용 가능한 모듈 형태와 유지보수 주체에 따라 정한다.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6364224"/>
            <a:ext cx="8229600" cy="10973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437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검증도구(SDK) 구현 방향 검토 요청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06640" y="6437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A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4526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45260"/>
            <a:ext cx="4023360" cy="310896"/>
          </a:xfrm>
          <a:prstGeom prst="rect">
            <a:avLst/>
          </a:prstGeom>
          <a:solidFill>
            <a:srgbClr val="00539F"/>
          </a:solidFill>
          <a:ln w="12700">
            <a:solidFill>
              <a:srgbClr val="0053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145260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네이버에 확인을 요청하는 사항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5216" y="2529308"/>
            <a:ext cx="376732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웨일에서 수용 가능한 외부 모듈의 형태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내장 PDF 뷰어와의 연동 지점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대상 웨일 버전과 운영체제 범위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통신을 수행하는 구성요소의 배치 원칙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참여 범위와 개발 일정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14526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145260"/>
            <a:ext cx="4023360" cy="310896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145260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KISA 측이 제시할 사항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91456" y="2529308"/>
            <a:ext cx="376732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로직의 구조와 재사용 범위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결과 데이터 구조와 상태 정의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신뢰목록 규격과 배포 방식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 문서 세트와 기대 결과</a:t>
            </a:r>
            <a:endParaRPr lang="en-US" sz="900" dirty="0"/>
          </a:p>
          <a:p>
            <a:pPr marL="171450" indent="-171450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 제공 시 유지보수 범위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701100"/>
            <a:ext cx="8229600" cy="1097280"/>
          </a:xfrm>
          <a:prstGeom prst="rect">
            <a:avLst/>
          </a:prstGeom>
          <a:solidFill>
            <a:srgbClr val="F5F9FC"/>
          </a:solidFill>
          <a:ln w="12700">
            <a:solidFill>
              <a:srgbClr val="C9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4755964"/>
            <a:ext cx="7973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539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 기준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" y="4975420"/>
            <a:ext cx="7973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단계에서는 구현 부담이 낮은 방식을 우선한다.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단계의 제공 방식 선택이 상용 적용 형태를 고정하지 않는다.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3288</Words>
  <Application>Microsoft Office PowerPoint</Application>
  <PresentationFormat>화면 슬라이드 쇼(4:3)</PresentationFormat>
  <Paragraphs>696</Paragraphs>
  <Slides>30</Slides>
  <Notes>26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용성 김</cp:lastModifiedBy>
  <cp:revision>16</cp:revision>
  <dcterms:created xsi:type="dcterms:W3CDTF">2026-08-14T01:08:12Z</dcterms:created>
  <dcterms:modified xsi:type="dcterms:W3CDTF">2026-08-14T04:45:46Z</dcterms:modified>
</cp:coreProperties>
</file>